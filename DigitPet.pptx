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embeddedFontLst>
    <p:embeddedFont>
      <p:font typeface="Impact" panose="020B0806030902050204" pitchFamily="34" charset="0"/>
      <p:regular r:id="rId16"/>
    </p:embeddedFont>
    <p:embeddedFont>
      <p:font typeface="Lato" panose="020F0502020204030203" pitchFamily="34" charset="0"/>
      <p:regular r:id="rId17"/>
      <p:bold r:id="rId18"/>
      <p:italic r:id="rId19"/>
      <p:boldItalic r:id="rId20"/>
    </p:embeddedFont>
    <p:embeddedFont>
      <p:font typeface="Montserrat" panose="00000500000000000000" pitchFamily="2" charset="-18"/>
      <p:regular r:id="rId21"/>
      <p:bold r:id="rId22"/>
      <p:italic r:id="rId23"/>
      <p:boldItalic r:id="rId24"/>
    </p:embeddedFont>
    <p:embeddedFont>
      <p:font typeface="Permanent Marker" panose="020B0604020202020204" charset="0"/>
      <p:regular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4" d="100"/>
          <a:sy n="134" d="100"/>
        </p:scale>
        <p:origin x="954" y="12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font" Target="fonts/font10.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8b6fbbc02b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38b6fbbc02b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38b6fbbc02b_1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 name="Google Shape;149;g38b6fbbc02b_1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hu"/>
              <a:t>valami</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8b6fbbc02b_2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38b6fbbc02b_2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hu"/>
              <a:t>Ezen a dián az adatbázisunk felépítése látható, amely több, egymással kapcsolatban álló táblából áll. Ezek a táblák kezelik például a felhasználókat, az állatokat és a rendeléseket.</a:t>
            </a:r>
            <a:endParaRPr/>
          </a:p>
          <a:p>
            <a:pPr marL="0" lvl="0" indent="0" algn="l" rtl="0">
              <a:lnSpc>
                <a:spcPct val="115000"/>
              </a:lnSpc>
              <a:spcBef>
                <a:spcPts val="1200"/>
              </a:spcBef>
              <a:spcAft>
                <a:spcPts val="0"/>
              </a:spcAft>
              <a:buClr>
                <a:schemeClr val="dk1"/>
              </a:buClr>
              <a:buSzPts val="1100"/>
              <a:buFont typeface="Arial"/>
              <a:buNone/>
            </a:pPr>
            <a:r>
              <a:rPr lang="hu"/>
              <a:t>A kapcsolatok biztosítják, hogy az adatok összekapcsolhatók legyenek, például egy felhasználóhoz több állat és rendelés is tartozhat.</a:t>
            </a:r>
            <a:endParaRPr/>
          </a:p>
          <a:p>
            <a:pPr marL="0" lvl="0" indent="0" algn="l" rtl="0">
              <a:lnSpc>
                <a:spcPct val="115000"/>
              </a:lnSpc>
              <a:spcBef>
                <a:spcPts val="1200"/>
              </a:spcBef>
              <a:spcAft>
                <a:spcPts val="0"/>
              </a:spcAft>
              <a:buClr>
                <a:schemeClr val="dk1"/>
              </a:buClr>
              <a:buSzPts val="1100"/>
              <a:buFont typeface="Arial"/>
              <a:buNone/>
            </a:pPr>
            <a:r>
              <a:rPr lang="hu"/>
              <a:t>Az alsó részen a szerveroldali adatbázis-kapcsolat látható, ahol PHP segítségével csatlakozunk az adatbázishoz, és ezen keresztül végezzük az adatok lekérdezését és módosítását.</a:t>
            </a:r>
            <a:endParaRPr/>
          </a:p>
          <a:p>
            <a:pPr marL="0" lvl="0" indent="0" algn="l" rtl="0">
              <a:spcBef>
                <a:spcPts val="120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8b6fbbc02b_1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8b6fbbc02b_1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br>
              <a:rPr lang="hu"/>
            </a:br>
            <a:r>
              <a:rPr lang="hu"/>
              <a:t>A regisztrációs felület új felhasználók létrehozására szolgál. A felhasználó megadja az adatait egy űrlapon, amelyeket a rendszer elküld a szervernek. A backend ellenőrzi az adatok helyességét, majd eltárolja azokat az adatbázisban. Siker esetén a felhasználó létrejön, ellenkező esetben hibaüzenetet kap.</a:t>
            </a:r>
            <a:br>
              <a:rPr lang="hu"/>
            </a:br>
            <a:br>
              <a:rPr lang="hu"/>
            </a:br>
            <a:r>
              <a:rPr lang="hu"/>
              <a:t>A login panel a felhasználó azonosítására szolgál. Egy egyszerű űrlapból áll, ahol a felhasználó megadja az adatait, amelyeket a rendszer elküld a szervernek. A backend kapcsolatba lép az adatbázissal, és ellenőrzi, hogy a megadott adatok egyeznek-e a tárolt felhasználói adatokkal. Ha igen, a bejelentkezés sikeres, ellenkező esetben hibaüzenetet kap a felhasználó.</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38b6fbbc02b_2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 name="Google Shape;180;g38b6fbbc02b_2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hu"/>
              <a:t>A profil oldalon a felhasználó módosítani tudja a saját adatait, például a felhasználónevét és a jelszavát. Ezek az adatok űrlapon keresztül kerülnek elküldésre a backendnek, ahol az adatbázis frissítése történik.</a:t>
            </a:r>
            <a:endParaRPr/>
          </a:p>
          <a:p>
            <a:pPr marL="0" lvl="0" indent="0" algn="l" rtl="0">
              <a:lnSpc>
                <a:spcPct val="115000"/>
              </a:lnSpc>
              <a:spcBef>
                <a:spcPts val="1200"/>
              </a:spcBef>
              <a:spcAft>
                <a:spcPts val="0"/>
              </a:spcAft>
              <a:buClr>
                <a:schemeClr val="dk1"/>
              </a:buClr>
              <a:buSzPts val="1100"/>
              <a:buFont typeface="Arial"/>
              <a:buNone/>
            </a:pPr>
            <a:r>
              <a:rPr lang="hu"/>
              <a:t>Emellett a felhasználó megtekintheti a korábbi rendeléseit is, ahol látható a rendelés időpontja, valamint az, hogy melyik állatra készült.</a:t>
            </a:r>
            <a:endParaRPr/>
          </a:p>
          <a:p>
            <a:pPr marL="0" lvl="0" indent="0" algn="l" rtl="0">
              <a:spcBef>
                <a:spcPts val="120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8b6fbbc02b_2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 name="Google Shape;190;g38b6fbbc02b_2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hu"/>
              <a:t>Ezen az oldalon a felhasználó új állatot tud regisztrálni egy űrlap segítségével, ahol megadja az alapadatokat, például a nevét, fajtáját és egyéb információkat. Az adatok elküldésre kerülnek a backendnek, ahol az adatbázisban tárolódnak.</a:t>
            </a:r>
            <a:endParaRPr/>
          </a:p>
          <a:p>
            <a:pPr marL="0" lvl="0" indent="0" algn="l" rtl="0">
              <a:spcBef>
                <a:spcPts val="0"/>
              </a:spcBef>
              <a:spcAft>
                <a:spcPts val="0"/>
              </a:spcAft>
              <a:buClr>
                <a:schemeClr val="dk1"/>
              </a:buClr>
              <a:buSzPts val="1100"/>
              <a:buFont typeface="Arial"/>
              <a:buNone/>
            </a:pPr>
            <a:r>
              <a:rPr lang="hu"/>
              <a:t>Az oldal alsó részén a már regisztrált állatok jelennek meg egy táblázatban, ahol láthatók a megadott adatok, valamint lehetőség van az egyes elemek törlésére is.</a:t>
            </a:r>
            <a:endParaRPr/>
          </a:p>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g38b6fbbc02b_2_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9" name="Google Shape;199;g38b6fbbc02b_2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38b6fbbc02b_2_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38b6fbbc02b_2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38b6fbbc02b_2_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38b6fbbc02b_2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3d5c72c013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9" name="Google Shape;229;g3d5c72c013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hu" sz="1150">
                <a:solidFill>
                  <a:schemeClr val="dk1"/>
                </a:solidFill>
              </a:rPr>
              <a:t>Itt a navbar reszponzív működését láthatjuk. A CSS-ben media query-t használok, ami figyeli a képernyő méretét, és ennek megfelelően módosítja a menü kinézetét. Mobilon például egy lenyitható menü jelenik meg, hogy helytakarékos legyen, míg számítógépen egy hagyományos vízszintes navigáció látható. Ez azért fontos, mert így minden eszközön könnyen használható marad az oldal.</a:t>
            </a:r>
            <a:endParaRPr>
              <a:solidFill>
                <a:schemeClr val="dk1"/>
              </a:solidFil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38b6fbbc02b_2_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38b6fbbc02b_2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hu"/>
              <a:t>„Ez a kódrészlet az admin felület része, ahol először egy jogosultságellenőrzés történik: csak az admin felhasználók férhetnek hozzá az oldalhoz, különben a rendszer leállítja a futást. Ezután egy adatbázis lekérdezés fut, ami a már leadott rendelések adatait kéri le, összekapcsolva a felhasználók táblájával. Az eredményeket egy asszociatív tömbbe rendezi, így könnyen kezelhető és megjeleníthető formában kapjuk vissza a rendelési adatokat.”</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g38b6fbbc02b_2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9" name="Google Shape;249;g38b6fbbc02b_2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rot="5400000">
            <a:off x="7500300" y="505"/>
            <a:ext cx="1643700" cy="1643700"/>
          </a:xfrm>
          <a:prstGeom prst="diagStripe">
            <a:avLst>
              <a:gd name="adj" fmla="val 0"/>
            </a:avLst>
          </a:prstGeom>
          <a:solidFill>
            <a:schemeClr val="lt1">
              <a:alpha val="30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 name="Google Shape;11;p2"/>
          <p:cNvGrpSpPr/>
          <p:nvPr/>
        </p:nvGrpSpPr>
        <p:grpSpPr>
          <a:xfrm>
            <a:off x="0" y="490"/>
            <a:ext cx="5153705" cy="5134399"/>
            <a:chOff x="0" y="75"/>
            <a:chExt cx="5153705" cy="5152950"/>
          </a:xfrm>
        </p:grpSpPr>
        <p:sp>
          <p:nvSpPr>
            <p:cNvPr id="12" name="Google Shape;12;p2"/>
            <p:cNvSpPr/>
            <p:nvPr/>
          </p:nvSpPr>
          <p:spPr>
            <a:xfrm rot="-5400000">
              <a:off x="455" y="-225"/>
              <a:ext cx="5152800" cy="5153700"/>
            </a:xfrm>
            <a:prstGeom prst="diagStripe">
              <a:avLst>
                <a:gd name="adj" fmla="val 50000"/>
              </a:avLst>
            </a:prstGeom>
            <a:solidFill>
              <a:schemeClr val="lt1">
                <a:alpha val="30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5400000">
              <a:off x="150" y="1145825"/>
              <a:ext cx="3996600" cy="3996900"/>
            </a:xfrm>
            <a:prstGeom prst="diagStripe">
              <a:avLst>
                <a:gd name="adj" fmla="val 58774"/>
              </a:avLst>
            </a:prstGeom>
            <a:solidFill>
              <a:schemeClr val="lt1">
                <a:alpha val="30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5400000">
              <a:off x="1646" y="-75"/>
              <a:ext cx="2299800" cy="23001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flipH="1">
              <a:off x="652821" y="590035"/>
              <a:ext cx="2300100" cy="2299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16;p2"/>
          <p:cNvSpPr txBox="1">
            <a:spLocks noGrp="1"/>
          </p:cNvSpPr>
          <p:nvPr>
            <p:ph type="ctrTitle"/>
          </p:nvPr>
        </p:nvSpPr>
        <p:spPr>
          <a:xfrm>
            <a:off x="3537150" y="1578400"/>
            <a:ext cx="5017500" cy="1578900"/>
          </a:xfrm>
          <a:prstGeom prst="rect">
            <a:avLst/>
          </a:prstGeom>
        </p:spPr>
        <p:txBody>
          <a:bodyPr spcFirstLastPara="1" wrap="square" lIns="91425" tIns="91425" rIns="91425" bIns="91425" anchor="t" anchorCtr="0">
            <a:norm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a:endParaRPr/>
          </a:p>
        </p:txBody>
      </p:sp>
      <p:sp>
        <p:nvSpPr>
          <p:cNvPr id="17" name="Google Shape;17;p2"/>
          <p:cNvSpPr txBox="1">
            <a:spLocks noGrp="1"/>
          </p:cNvSpPr>
          <p:nvPr>
            <p:ph type="subTitle" idx="1"/>
          </p:nvPr>
        </p:nvSpPr>
        <p:spPr>
          <a:xfrm>
            <a:off x="5083950" y="3924925"/>
            <a:ext cx="3470700" cy="506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a:endParaRPr/>
          </a:p>
        </p:txBody>
      </p:sp>
      <p:sp>
        <p:nvSpPr>
          <p:cNvPr id="18" name="Google Shape;18;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hu"/>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9"/>
        <p:cNvGrpSpPr/>
        <p:nvPr/>
      </p:nvGrpSpPr>
      <p:grpSpPr>
        <a:xfrm>
          <a:off x="0" y="0"/>
          <a:ext cx="0" cy="0"/>
          <a:chOff x="0" y="0"/>
          <a:chExt cx="0" cy="0"/>
        </a:xfrm>
      </p:grpSpPr>
      <p:grpSp>
        <p:nvGrpSpPr>
          <p:cNvPr id="20" name="Google Shape;20;p3"/>
          <p:cNvGrpSpPr/>
          <p:nvPr/>
        </p:nvGrpSpPr>
        <p:grpSpPr>
          <a:xfrm>
            <a:off x="4406400" y="0"/>
            <a:ext cx="4737600" cy="5143065"/>
            <a:chOff x="4406400" y="0"/>
            <a:chExt cx="4737600" cy="5143065"/>
          </a:xfrm>
        </p:grpSpPr>
        <p:sp>
          <p:nvSpPr>
            <p:cNvPr id="21" name="Google Shape;21;p3"/>
            <p:cNvSpPr/>
            <p:nvPr/>
          </p:nvSpPr>
          <p:spPr>
            <a:xfrm rot="5400000">
              <a:off x="4408200" y="-1800"/>
              <a:ext cx="4734000" cy="4737600"/>
            </a:xfrm>
            <a:prstGeom prst="diagStripe">
              <a:avLst>
                <a:gd name="adj" fmla="val 49469"/>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3"/>
            <p:cNvSpPr/>
            <p:nvPr/>
          </p:nvSpPr>
          <p:spPr>
            <a:xfrm rot="5400000">
              <a:off x="4841125" y="5700"/>
              <a:ext cx="4298100" cy="4286700"/>
            </a:xfrm>
            <a:prstGeom prst="diagStripe">
              <a:avLst>
                <a:gd name="adj" fmla="val 0"/>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p:nvPr/>
          </p:nvSpPr>
          <p:spPr>
            <a:xfrm rot="-5400000">
              <a:off x="5618399" y="123646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3"/>
            <p:cNvSpPr/>
            <p:nvPr/>
          </p:nvSpPr>
          <p:spPr>
            <a:xfrm flipH="1">
              <a:off x="5849857" y="144395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3"/>
            <p:cNvSpPr/>
            <p:nvPr/>
          </p:nvSpPr>
          <p:spPr>
            <a:xfrm rot="-5400000">
              <a:off x="5987081" y="24694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3"/>
            <p:cNvSpPr/>
            <p:nvPr/>
          </p:nvSpPr>
          <p:spPr>
            <a:xfrm flipH="1">
              <a:off x="6222115" y="267695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3"/>
            <p:cNvSpPr/>
            <p:nvPr/>
          </p:nvSpPr>
          <p:spPr>
            <a:xfrm rot="-5400000">
              <a:off x="6675341" y="186201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3"/>
            <p:cNvSpPr/>
            <p:nvPr/>
          </p:nvSpPr>
          <p:spPr>
            <a:xfrm flipH="1">
              <a:off x="6908099" y="2069505"/>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3"/>
            <p:cNvSpPr/>
            <p:nvPr/>
          </p:nvSpPr>
          <p:spPr>
            <a:xfrm rot="-5400000">
              <a:off x="6861141" y="247781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3"/>
            <p:cNvSpPr/>
            <p:nvPr/>
          </p:nvSpPr>
          <p:spPr>
            <a:xfrm flipH="1">
              <a:off x="7965266" y="269296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3"/>
            <p:cNvSpPr/>
            <p:nvPr/>
          </p:nvSpPr>
          <p:spPr>
            <a:xfrm flipH="1">
              <a:off x="8145082" y="330875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3"/>
            <p:cNvSpPr/>
            <p:nvPr/>
          </p:nvSpPr>
          <p:spPr>
            <a:xfrm rot="-5400000">
              <a:off x="7047599" y="309501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3"/>
            <p:cNvSpPr/>
            <p:nvPr/>
          </p:nvSpPr>
          <p:spPr>
            <a:xfrm flipH="1">
              <a:off x="7276649" y="3302502"/>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3"/>
            <p:cNvSpPr/>
            <p:nvPr/>
          </p:nvSpPr>
          <p:spPr>
            <a:xfrm rot="-5400000">
              <a:off x="7227414" y="3710807"/>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3"/>
            <p:cNvSpPr/>
            <p:nvPr/>
          </p:nvSpPr>
          <p:spPr>
            <a:xfrm flipH="1">
              <a:off x="7462448" y="3918294"/>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3"/>
            <p:cNvSpPr/>
            <p:nvPr/>
          </p:nvSpPr>
          <p:spPr>
            <a:xfrm rot="-5400000">
              <a:off x="8102491" y="371847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3"/>
            <p:cNvSpPr/>
            <p:nvPr/>
          </p:nvSpPr>
          <p:spPr>
            <a:xfrm flipH="1">
              <a:off x="8334533" y="392596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3"/>
            <p:cNvSpPr/>
            <p:nvPr/>
          </p:nvSpPr>
          <p:spPr>
            <a:xfrm rot="-5400000">
              <a:off x="8288290" y="43342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 name="Google Shape;39;p3"/>
          <p:cNvSpPr txBox="1">
            <a:spLocks noGrp="1"/>
          </p:cNvSpPr>
          <p:nvPr>
            <p:ph type="title"/>
          </p:nvPr>
        </p:nvSpPr>
        <p:spPr>
          <a:xfrm>
            <a:off x="823850" y="2053000"/>
            <a:ext cx="4587000" cy="1148700"/>
          </a:xfrm>
          <a:prstGeom prst="rect">
            <a:avLst/>
          </a:prstGeom>
        </p:spPr>
        <p:txBody>
          <a:bodyPr spcFirstLastPara="1" wrap="square" lIns="91425" tIns="91425" rIns="91425" bIns="91425" anchor="ctr"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0" name="Google Shape;40;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h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41"/>
        <p:cNvGrpSpPr/>
        <p:nvPr/>
      </p:nvGrpSpPr>
      <p:grpSpPr>
        <a:xfrm>
          <a:off x="0" y="0"/>
          <a:ext cx="0" cy="0"/>
          <a:chOff x="0" y="0"/>
          <a:chExt cx="0" cy="0"/>
        </a:xfrm>
      </p:grpSpPr>
      <p:grpSp>
        <p:nvGrpSpPr>
          <p:cNvPr id="42" name="Google Shape;42;p4"/>
          <p:cNvGrpSpPr/>
          <p:nvPr/>
        </p:nvGrpSpPr>
        <p:grpSpPr>
          <a:xfrm>
            <a:off x="0" y="381001"/>
            <a:ext cx="1037850" cy="1016287"/>
            <a:chOff x="0" y="381001"/>
            <a:chExt cx="1037850" cy="1016287"/>
          </a:xfrm>
        </p:grpSpPr>
        <p:sp>
          <p:nvSpPr>
            <p:cNvPr id="43" name="Google Shape;43;p4"/>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4"/>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4"/>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6" name="Google Shape;46;p4"/>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47" name="Google Shape;47;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hu"/>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8"/>
        <p:cNvGrpSpPr/>
        <p:nvPr/>
      </p:nvGrpSpPr>
      <p:grpSpPr>
        <a:xfrm>
          <a:off x="0" y="0"/>
          <a:ext cx="0" cy="0"/>
          <a:chOff x="0" y="0"/>
          <a:chExt cx="0" cy="0"/>
        </a:xfrm>
      </p:grpSpPr>
      <p:grpSp>
        <p:nvGrpSpPr>
          <p:cNvPr id="49" name="Google Shape;49;p5"/>
          <p:cNvGrpSpPr/>
          <p:nvPr/>
        </p:nvGrpSpPr>
        <p:grpSpPr>
          <a:xfrm>
            <a:off x="0" y="381001"/>
            <a:ext cx="1037850" cy="1016287"/>
            <a:chOff x="0" y="381001"/>
            <a:chExt cx="1037850" cy="1016287"/>
          </a:xfrm>
        </p:grpSpPr>
        <p:sp>
          <p:nvSpPr>
            <p:cNvPr id="50" name="Google Shape;50;p5"/>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5"/>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 name="Google Shape;52;p5"/>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53" name="Google Shape;53;p5"/>
          <p:cNvSpPr txBox="1">
            <a:spLocks noGrp="1"/>
          </p:cNvSpPr>
          <p:nvPr>
            <p:ph type="body" idx="1"/>
          </p:nvPr>
        </p:nvSpPr>
        <p:spPr>
          <a:xfrm>
            <a:off x="1297500" y="1567550"/>
            <a:ext cx="34032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4" name="Google Shape;54;p5"/>
          <p:cNvSpPr txBox="1">
            <a:spLocks noGrp="1"/>
          </p:cNvSpPr>
          <p:nvPr>
            <p:ph type="body" idx="2"/>
          </p:nvPr>
        </p:nvSpPr>
        <p:spPr>
          <a:xfrm>
            <a:off x="4933221" y="1567550"/>
            <a:ext cx="34032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5" name="Google Shape;55;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hu"/>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6"/>
        <p:cNvGrpSpPr/>
        <p:nvPr/>
      </p:nvGrpSpPr>
      <p:grpSpPr>
        <a:xfrm>
          <a:off x="0" y="0"/>
          <a:ext cx="0" cy="0"/>
          <a:chOff x="0" y="0"/>
          <a:chExt cx="0" cy="0"/>
        </a:xfrm>
      </p:grpSpPr>
      <p:grpSp>
        <p:nvGrpSpPr>
          <p:cNvPr id="57" name="Google Shape;57;p6"/>
          <p:cNvGrpSpPr/>
          <p:nvPr/>
        </p:nvGrpSpPr>
        <p:grpSpPr>
          <a:xfrm>
            <a:off x="0" y="381001"/>
            <a:ext cx="1037850" cy="1016287"/>
            <a:chOff x="0" y="381001"/>
            <a:chExt cx="1037850" cy="1016287"/>
          </a:xfrm>
        </p:grpSpPr>
        <p:sp>
          <p:nvSpPr>
            <p:cNvPr id="58" name="Google Shape;58;p6"/>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6"/>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 name="Google Shape;60;p6"/>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61" name="Google Shape;61;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hu"/>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2"/>
        <p:cNvGrpSpPr/>
        <p:nvPr/>
      </p:nvGrpSpPr>
      <p:grpSpPr>
        <a:xfrm>
          <a:off x="0" y="0"/>
          <a:ext cx="0" cy="0"/>
          <a:chOff x="0" y="0"/>
          <a:chExt cx="0" cy="0"/>
        </a:xfrm>
      </p:grpSpPr>
      <p:grpSp>
        <p:nvGrpSpPr>
          <p:cNvPr id="63" name="Google Shape;63;p7"/>
          <p:cNvGrpSpPr/>
          <p:nvPr/>
        </p:nvGrpSpPr>
        <p:grpSpPr>
          <a:xfrm>
            <a:off x="0" y="381001"/>
            <a:ext cx="1037850" cy="1016287"/>
            <a:chOff x="0" y="381001"/>
            <a:chExt cx="1037850" cy="1016287"/>
          </a:xfrm>
        </p:grpSpPr>
        <p:sp>
          <p:nvSpPr>
            <p:cNvPr id="64" name="Google Shape;64;p7"/>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7"/>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 name="Google Shape;66;p7"/>
          <p:cNvSpPr txBox="1">
            <a:spLocks noGrp="1"/>
          </p:cNvSpPr>
          <p:nvPr>
            <p:ph type="title"/>
          </p:nvPr>
        </p:nvSpPr>
        <p:spPr>
          <a:xfrm>
            <a:off x="1297500" y="393750"/>
            <a:ext cx="3798900" cy="1493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67" name="Google Shape;67;p7"/>
          <p:cNvSpPr txBox="1">
            <a:spLocks noGrp="1"/>
          </p:cNvSpPr>
          <p:nvPr>
            <p:ph type="body" idx="1"/>
          </p:nvPr>
        </p:nvSpPr>
        <p:spPr>
          <a:xfrm>
            <a:off x="1297500" y="1972550"/>
            <a:ext cx="3798900" cy="24159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68" name="Google Shape;6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hu"/>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69"/>
        <p:cNvGrpSpPr/>
        <p:nvPr/>
      </p:nvGrpSpPr>
      <p:grpSpPr>
        <a:xfrm>
          <a:off x="0" y="0"/>
          <a:ext cx="0" cy="0"/>
          <a:chOff x="0" y="0"/>
          <a:chExt cx="0" cy="0"/>
        </a:xfrm>
      </p:grpSpPr>
      <p:grpSp>
        <p:nvGrpSpPr>
          <p:cNvPr id="70" name="Google Shape;70;p8"/>
          <p:cNvGrpSpPr/>
          <p:nvPr/>
        </p:nvGrpSpPr>
        <p:grpSpPr>
          <a:xfrm>
            <a:off x="4406400" y="0"/>
            <a:ext cx="4737600" cy="5143500"/>
            <a:chOff x="4406400" y="0"/>
            <a:chExt cx="4737600" cy="5143500"/>
          </a:xfrm>
        </p:grpSpPr>
        <p:sp>
          <p:nvSpPr>
            <p:cNvPr id="71" name="Google Shape;71;p8"/>
            <p:cNvSpPr/>
            <p:nvPr/>
          </p:nvSpPr>
          <p:spPr>
            <a:xfrm rot="5400000">
              <a:off x="4407900" y="-1500"/>
              <a:ext cx="4734600" cy="4737600"/>
            </a:xfrm>
            <a:prstGeom prst="diagStripe">
              <a:avLst>
                <a:gd name="adj" fmla="val 49469"/>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8"/>
            <p:cNvSpPr/>
            <p:nvPr/>
          </p:nvSpPr>
          <p:spPr>
            <a:xfrm rot="5400000">
              <a:off x="4840825" y="6000"/>
              <a:ext cx="4298700" cy="4286700"/>
            </a:xfrm>
            <a:prstGeom prst="diagStripe">
              <a:avLst>
                <a:gd name="adj" fmla="val 0"/>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8"/>
            <p:cNvSpPr/>
            <p:nvPr/>
          </p:nvSpPr>
          <p:spPr>
            <a:xfrm rot="-5400000">
              <a:off x="5618399" y="1236641"/>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8"/>
            <p:cNvSpPr/>
            <p:nvPr/>
          </p:nvSpPr>
          <p:spPr>
            <a:xfrm flipH="1">
              <a:off x="5849857" y="144407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8"/>
            <p:cNvSpPr/>
            <p:nvPr/>
          </p:nvSpPr>
          <p:spPr>
            <a:xfrm rot="-5400000">
              <a:off x="5987081" y="246974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8"/>
            <p:cNvSpPr/>
            <p:nvPr/>
          </p:nvSpPr>
          <p:spPr>
            <a:xfrm flipH="1">
              <a:off x="6222115" y="2677179"/>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8"/>
            <p:cNvSpPr/>
            <p:nvPr/>
          </p:nvSpPr>
          <p:spPr>
            <a:xfrm rot="-5400000">
              <a:off x="6675341" y="1862244"/>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8"/>
            <p:cNvSpPr/>
            <p:nvPr/>
          </p:nvSpPr>
          <p:spPr>
            <a:xfrm flipH="1">
              <a:off x="6908099" y="2069680"/>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8"/>
            <p:cNvSpPr/>
            <p:nvPr/>
          </p:nvSpPr>
          <p:spPr>
            <a:xfrm rot="-5400000">
              <a:off x="6861141" y="247808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8"/>
            <p:cNvSpPr/>
            <p:nvPr/>
          </p:nvSpPr>
          <p:spPr>
            <a:xfrm flipH="1">
              <a:off x="7965266" y="2693191"/>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8"/>
            <p:cNvSpPr/>
            <p:nvPr/>
          </p:nvSpPr>
          <p:spPr>
            <a:xfrm flipH="1">
              <a:off x="8145082" y="330903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8"/>
            <p:cNvSpPr/>
            <p:nvPr/>
          </p:nvSpPr>
          <p:spPr>
            <a:xfrm rot="-5400000">
              <a:off x="7047599" y="309534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8"/>
            <p:cNvSpPr/>
            <p:nvPr/>
          </p:nvSpPr>
          <p:spPr>
            <a:xfrm flipH="1">
              <a:off x="7276649" y="3302781"/>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8"/>
            <p:cNvSpPr/>
            <p:nvPr/>
          </p:nvSpPr>
          <p:spPr>
            <a:xfrm rot="-5400000">
              <a:off x="7227414" y="3711189"/>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8"/>
            <p:cNvSpPr/>
            <p:nvPr/>
          </p:nvSpPr>
          <p:spPr>
            <a:xfrm flipH="1">
              <a:off x="7462448" y="391862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8"/>
            <p:cNvSpPr/>
            <p:nvPr/>
          </p:nvSpPr>
          <p:spPr>
            <a:xfrm rot="-5400000">
              <a:off x="8102491" y="371885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8"/>
            <p:cNvSpPr/>
            <p:nvPr/>
          </p:nvSpPr>
          <p:spPr>
            <a:xfrm flipH="1">
              <a:off x="8334533" y="3926292"/>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8"/>
            <p:cNvSpPr/>
            <p:nvPr/>
          </p:nvSpPr>
          <p:spPr>
            <a:xfrm rot="-5400000">
              <a:off x="8288290" y="433470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 name="Google Shape;89;p8"/>
          <p:cNvSpPr txBox="1">
            <a:spLocks noGrp="1"/>
          </p:cNvSpPr>
          <p:nvPr>
            <p:ph type="title"/>
          </p:nvPr>
        </p:nvSpPr>
        <p:spPr>
          <a:xfrm>
            <a:off x="823850" y="866775"/>
            <a:ext cx="4587000" cy="3521100"/>
          </a:xfrm>
          <a:prstGeom prst="rect">
            <a:avLst/>
          </a:prstGeom>
        </p:spPr>
        <p:txBody>
          <a:bodyPr spcFirstLastPara="1" wrap="square" lIns="91425" tIns="91425" rIns="91425" bIns="91425" anchor="ctr"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90" name="Google Shape;9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hu"/>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1"/>
        <p:cNvGrpSpPr/>
        <p:nvPr/>
      </p:nvGrpSpPr>
      <p:grpSpPr>
        <a:xfrm>
          <a:off x="0" y="0"/>
          <a:ext cx="0" cy="0"/>
          <a:chOff x="0" y="0"/>
          <a:chExt cx="0" cy="0"/>
        </a:xfrm>
      </p:grpSpPr>
      <p:grpSp>
        <p:nvGrpSpPr>
          <p:cNvPr id="92" name="Google Shape;92;p9"/>
          <p:cNvGrpSpPr/>
          <p:nvPr/>
        </p:nvGrpSpPr>
        <p:grpSpPr>
          <a:xfrm>
            <a:off x="0" y="381001"/>
            <a:ext cx="1037850" cy="1016287"/>
            <a:chOff x="0" y="381001"/>
            <a:chExt cx="1037850" cy="1016287"/>
          </a:xfrm>
        </p:grpSpPr>
        <p:sp>
          <p:nvSpPr>
            <p:cNvPr id="93" name="Google Shape;93;p9"/>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9"/>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 name="Google Shape;95;p9"/>
          <p:cNvSpPr txBox="1">
            <a:spLocks noGrp="1"/>
          </p:cNvSpPr>
          <p:nvPr>
            <p:ph type="title"/>
          </p:nvPr>
        </p:nvSpPr>
        <p:spPr>
          <a:xfrm>
            <a:off x="1297500" y="1658325"/>
            <a:ext cx="3036300" cy="17517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96" name="Google Shape;96;p9"/>
          <p:cNvSpPr txBox="1">
            <a:spLocks noGrp="1"/>
          </p:cNvSpPr>
          <p:nvPr>
            <p:ph type="subTitle" idx="1"/>
          </p:nvPr>
        </p:nvSpPr>
        <p:spPr>
          <a:xfrm>
            <a:off x="1297500" y="3538000"/>
            <a:ext cx="3036300" cy="506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a:endParaRPr/>
          </a:p>
        </p:txBody>
      </p:sp>
      <p:sp>
        <p:nvSpPr>
          <p:cNvPr id="97" name="Google Shape;97;p9"/>
          <p:cNvSpPr txBox="1">
            <a:spLocks noGrp="1"/>
          </p:cNvSpPr>
          <p:nvPr>
            <p:ph type="body" idx="2"/>
          </p:nvPr>
        </p:nvSpPr>
        <p:spPr>
          <a:xfrm>
            <a:off x="4648200" y="1696600"/>
            <a:ext cx="3676800" cy="2347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98" name="Google Shape;98;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hu"/>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9"/>
        <p:cNvGrpSpPr/>
        <p:nvPr/>
      </p:nvGrpSpPr>
      <p:grpSpPr>
        <a:xfrm>
          <a:off x="0" y="0"/>
          <a:ext cx="0" cy="0"/>
          <a:chOff x="0" y="0"/>
          <a:chExt cx="0" cy="0"/>
        </a:xfrm>
      </p:grpSpPr>
      <p:grpSp>
        <p:nvGrpSpPr>
          <p:cNvPr id="100" name="Google Shape;100;p10"/>
          <p:cNvGrpSpPr/>
          <p:nvPr/>
        </p:nvGrpSpPr>
        <p:grpSpPr>
          <a:xfrm>
            <a:off x="0" y="4128572"/>
            <a:ext cx="698925" cy="684657"/>
            <a:chOff x="0" y="3785672"/>
            <a:chExt cx="698925" cy="684657"/>
          </a:xfrm>
        </p:grpSpPr>
        <p:sp>
          <p:nvSpPr>
            <p:cNvPr id="101" name="Google Shape;101;p10"/>
            <p:cNvSpPr/>
            <p:nvPr/>
          </p:nvSpPr>
          <p:spPr>
            <a:xfrm rot="-5400000">
              <a:off x="0" y="3785672"/>
              <a:ext cx="544800" cy="544800"/>
            </a:xfrm>
            <a:prstGeom prst="diagStripe">
              <a:avLst>
                <a:gd name="adj" fmla="val 50000"/>
              </a:avLst>
            </a:prstGeom>
            <a:solidFill>
              <a:schemeClr val="lt1">
                <a:alpha val="96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0"/>
            <p:cNvSpPr/>
            <p:nvPr/>
          </p:nvSpPr>
          <p:spPr>
            <a:xfrm flipH="1">
              <a:off x="154125" y="3925529"/>
              <a:ext cx="544800" cy="544800"/>
            </a:xfrm>
            <a:prstGeom prst="diagStripe">
              <a:avLst>
                <a:gd name="adj" fmla="val 50000"/>
              </a:avLst>
            </a:prstGeom>
            <a:solidFill>
              <a:schemeClr val="lt1">
                <a:alpha val="96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 name="Google Shape;103;p10"/>
          <p:cNvSpPr txBox="1">
            <a:spLocks noGrp="1"/>
          </p:cNvSpPr>
          <p:nvPr>
            <p:ph type="body" idx="1"/>
          </p:nvPr>
        </p:nvSpPr>
        <p:spPr>
          <a:xfrm>
            <a:off x="812725" y="4305375"/>
            <a:ext cx="6936000" cy="523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300"/>
              <a:buNone/>
              <a:defRPr/>
            </a:lvl1pPr>
          </a:lstStyle>
          <a:p>
            <a:endParaRPr/>
          </a:p>
        </p:txBody>
      </p:sp>
      <p:sp>
        <p:nvSpPr>
          <p:cNvPr id="104" name="Google Shape;10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hu"/>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05"/>
        <p:cNvGrpSpPr/>
        <p:nvPr/>
      </p:nvGrpSpPr>
      <p:grpSpPr>
        <a:xfrm>
          <a:off x="0" y="0"/>
          <a:ext cx="0" cy="0"/>
          <a:chOff x="0" y="0"/>
          <a:chExt cx="0" cy="0"/>
        </a:xfrm>
      </p:grpSpPr>
      <p:grpSp>
        <p:nvGrpSpPr>
          <p:cNvPr id="106" name="Google Shape;106;p11"/>
          <p:cNvGrpSpPr/>
          <p:nvPr/>
        </p:nvGrpSpPr>
        <p:grpSpPr>
          <a:xfrm>
            <a:off x="4406400" y="0"/>
            <a:ext cx="4737600" cy="5143065"/>
            <a:chOff x="4406400" y="0"/>
            <a:chExt cx="4737600" cy="5143065"/>
          </a:xfrm>
        </p:grpSpPr>
        <p:sp>
          <p:nvSpPr>
            <p:cNvPr id="107" name="Google Shape;107;p11"/>
            <p:cNvSpPr/>
            <p:nvPr/>
          </p:nvSpPr>
          <p:spPr>
            <a:xfrm rot="5400000">
              <a:off x="4408200" y="-1800"/>
              <a:ext cx="4734000" cy="4737600"/>
            </a:xfrm>
            <a:prstGeom prst="diagStripe">
              <a:avLst>
                <a:gd name="adj" fmla="val 49469"/>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11"/>
            <p:cNvSpPr/>
            <p:nvPr/>
          </p:nvSpPr>
          <p:spPr>
            <a:xfrm rot="5400000">
              <a:off x="4841125" y="5700"/>
              <a:ext cx="4298100" cy="4286700"/>
            </a:xfrm>
            <a:prstGeom prst="diagStripe">
              <a:avLst>
                <a:gd name="adj" fmla="val 0"/>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1"/>
            <p:cNvSpPr/>
            <p:nvPr/>
          </p:nvSpPr>
          <p:spPr>
            <a:xfrm rot="-5400000">
              <a:off x="5618399" y="123646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1"/>
            <p:cNvSpPr/>
            <p:nvPr/>
          </p:nvSpPr>
          <p:spPr>
            <a:xfrm flipH="1">
              <a:off x="5849857" y="144395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1"/>
            <p:cNvSpPr/>
            <p:nvPr/>
          </p:nvSpPr>
          <p:spPr>
            <a:xfrm rot="-5400000">
              <a:off x="5987081" y="24694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11"/>
            <p:cNvSpPr/>
            <p:nvPr/>
          </p:nvSpPr>
          <p:spPr>
            <a:xfrm flipH="1">
              <a:off x="6222115" y="267695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11"/>
            <p:cNvSpPr/>
            <p:nvPr/>
          </p:nvSpPr>
          <p:spPr>
            <a:xfrm rot="-5400000">
              <a:off x="6675341" y="186201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11"/>
            <p:cNvSpPr/>
            <p:nvPr/>
          </p:nvSpPr>
          <p:spPr>
            <a:xfrm flipH="1">
              <a:off x="6908099" y="2069505"/>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11"/>
            <p:cNvSpPr/>
            <p:nvPr/>
          </p:nvSpPr>
          <p:spPr>
            <a:xfrm rot="-5400000">
              <a:off x="6861141" y="247781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11"/>
            <p:cNvSpPr/>
            <p:nvPr/>
          </p:nvSpPr>
          <p:spPr>
            <a:xfrm flipH="1">
              <a:off x="7965266" y="269296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1"/>
            <p:cNvSpPr/>
            <p:nvPr/>
          </p:nvSpPr>
          <p:spPr>
            <a:xfrm flipH="1">
              <a:off x="8145082" y="330875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11"/>
            <p:cNvSpPr/>
            <p:nvPr/>
          </p:nvSpPr>
          <p:spPr>
            <a:xfrm rot="-5400000">
              <a:off x="7047599" y="309501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11"/>
            <p:cNvSpPr/>
            <p:nvPr/>
          </p:nvSpPr>
          <p:spPr>
            <a:xfrm flipH="1">
              <a:off x="7276649" y="3302502"/>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11"/>
            <p:cNvSpPr/>
            <p:nvPr/>
          </p:nvSpPr>
          <p:spPr>
            <a:xfrm rot="-5400000">
              <a:off x="7227414" y="3710807"/>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11"/>
            <p:cNvSpPr/>
            <p:nvPr/>
          </p:nvSpPr>
          <p:spPr>
            <a:xfrm flipH="1">
              <a:off x="7462448" y="3918294"/>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11"/>
            <p:cNvSpPr/>
            <p:nvPr/>
          </p:nvSpPr>
          <p:spPr>
            <a:xfrm rot="-5400000">
              <a:off x="8102491" y="371847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11"/>
            <p:cNvSpPr/>
            <p:nvPr/>
          </p:nvSpPr>
          <p:spPr>
            <a:xfrm flipH="1">
              <a:off x="8334533" y="392596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11"/>
            <p:cNvSpPr/>
            <p:nvPr/>
          </p:nvSpPr>
          <p:spPr>
            <a:xfrm rot="-5400000">
              <a:off x="8288290" y="43342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 name="Google Shape;125;p11"/>
          <p:cNvSpPr txBox="1">
            <a:spLocks noGrp="1"/>
          </p:cNvSpPr>
          <p:nvPr>
            <p:ph type="title" hasCustomPrompt="1"/>
          </p:nvPr>
        </p:nvSpPr>
        <p:spPr>
          <a:xfrm>
            <a:off x="823850" y="1284675"/>
            <a:ext cx="4776000" cy="1300800"/>
          </a:xfrm>
          <a:prstGeom prst="rect">
            <a:avLst/>
          </a:prstGeom>
        </p:spPr>
        <p:txBody>
          <a:bodyPr spcFirstLastPara="1" wrap="square" lIns="91425" tIns="91425" rIns="91425" bIns="91425" anchor="t" anchorCtr="0">
            <a:norm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126" name="Google Shape;126;p11"/>
          <p:cNvSpPr txBox="1">
            <a:spLocks noGrp="1"/>
          </p:cNvSpPr>
          <p:nvPr>
            <p:ph type="body" idx="1"/>
          </p:nvPr>
        </p:nvSpPr>
        <p:spPr>
          <a:xfrm>
            <a:off x="823850" y="2643124"/>
            <a:ext cx="4776000" cy="12189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127" name="Google Shape;12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hu"/>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28"/>
        <p:cNvGrpSpPr/>
        <p:nvPr/>
      </p:nvGrpSpPr>
      <p:grpSpPr>
        <a:xfrm>
          <a:off x="0" y="0"/>
          <a:ext cx="0" cy="0"/>
          <a:chOff x="0" y="0"/>
          <a:chExt cx="0" cy="0"/>
        </a:xfrm>
      </p:grpSpPr>
      <p:sp>
        <p:nvSpPr>
          <p:cNvPr id="129" name="Google Shape;12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hu"/>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focus">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marL="914400" lvl="1"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2pPr>
            <a:lvl3pPr marL="1371600" lvl="2"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3pPr>
            <a:lvl4pPr marL="1828800" lvl="3"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4pPr>
            <a:lvl5pPr marL="2286000" lvl="4"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5pPr>
            <a:lvl6pPr marL="2743200" lvl="5"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6pPr>
            <a:lvl7pPr marL="3200400" lvl="6"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7pPr>
            <a:lvl8pPr marL="3657600" lvl="7"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8pPr>
            <a:lvl9pPr marL="4114800" lvl="8"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hu"/>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2.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2.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png"/><Relationship Id="rId7"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27.jpg"/><Relationship Id="rId5" Type="http://schemas.openxmlformats.org/officeDocument/2006/relationships/image" Target="../media/image26.jp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30.png"/><Relationship Id="rId4" Type="http://schemas.openxmlformats.org/officeDocument/2006/relationships/image" Target="../media/image29.png"/></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3"/>
          <p:cNvSpPr txBox="1">
            <a:spLocks noGrp="1"/>
          </p:cNvSpPr>
          <p:nvPr>
            <p:ph type="ctrTitle"/>
          </p:nvPr>
        </p:nvSpPr>
        <p:spPr>
          <a:xfrm>
            <a:off x="3801525" y="631675"/>
            <a:ext cx="5017500" cy="993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hu" sz="4400" b="1" dirty="0"/>
              <a:t>DigitPet</a:t>
            </a:r>
            <a:endParaRPr sz="4400" b="1" dirty="0"/>
          </a:p>
        </p:txBody>
      </p:sp>
      <p:pic>
        <p:nvPicPr>
          <p:cNvPr id="135" name="Google Shape;135;p13" title="1.png"/>
          <p:cNvPicPr preferRelativeResize="0"/>
          <p:nvPr/>
        </p:nvPicPr>
        <p:blipFill>
          <a:blip r:embed="rId3">
            <a:alphaModFix/>
          </a:blip>
          <a:stretch>
            <a:fillRect/>
          </a:stretch>
        </p:blipFill>
        <p:spPr>
          <a:xfrm>
            <a:off x="4637625" y="2139250"/>
            <a:ext cx="4506374" cy="3004250"/>
          </a:xfrm>
          <a:prstGeom prst="rect">
            <a:avLst/>
          </a:prstGeom>
          <a:noFill/>
          <a:ln>
            <a:noFill/>
          </a:ln>
        </p:spPr>
      </p:pic>
      <p:sp>
        <p:nvSpPr>
          <p:cNvPr id="136" name="Google Shape;136;p13"/>
          <p:cNvSpPr txBox="1"/>
          <p:nvPr/>
        </p:nvSpPr>
        <p:spPr>
          <a:xfrm>
            <a:off x="178925" y="3880725"/>
            <a:ext cx="3295500" cy="99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hu" sz="1300">
                <a:solidFill>
                  <a:schemeClr val="lt1"/>
                </a:solidFill>
                <a:latin typeface="Lato"/>
                <a:ea typeface="Lato"/>
                <a:cs typeface="Lato"/>
                <a:sym typeface="Lato"/>
              </a:rPr>
              <a:t>Készítették:</a:t>
            </a:r>
            <a:endParaRPr sz="1300">
              <a:solidFill>
                <a:schemeClr val="lt1"/>
              </a:solidFill>
              <a:latin typeface="Lato"/>
              <a:ea typeface="Lato"/>
              <a:cs typeface="Lato"/>
              <a:sym typeface="Lato"/>
            </a:endParaRPr>
          </a:p>
          <a:p>
            <a:pPr marL="457200" lvl="0" indent="-311150" algn="l" rtl="0">
              <a:spcBef>
                <a:spcPts val="0"/>
              </a:spcBef>
              <a:spcAft>
                <a:spcPts val="0"/>
              </a:spcAft>
              <a:buClr>
                <a:schemeClr val="lt1"/>
              </a:buClr>
              <a:buSzPts val="1300"/>
              <a:buFont typeface="Lato"/>
              <a:buChar char="●"/>
            </a:pPr>
            <a:r>
              <a:rPr lang="hu" sz="1300">
                <a:solidFill>
                  <a:schemeClr val="lt1"/>
                </a:solidFill>
                <a:latin typeface="Lato"/>
                <a:ea typeface="Lato"/>
                <a:cs typeface="Lato"/>
                <a:sym typeface="Lato"/>
              </a:rPr>
              <a:t>Vincze Gergő</a:t>
            </a:r>
            <a:endParaRPr sz="1300">
              <a:solidFill>
                <a:schemeClr val="lt1"/>
              </a:solidFill>
              <a:latin typeface="Lato"/>
              <a:ea typeface="Lato"/>
              <a:cs typeface="Lato"/>
              <a:sym typeface="Lato"/>
            </a:endParaRPr>
          </a:p>
          <a:p>
            <a:pPr marL="457200" lvl="0" indent="-311150" algn="l" rtl="0">
              <a:spcBef>
                <a:spcPts val="0"/>
              </a:spcBef>
              <a:spcAft>
                <a:spcPts val="0"/>
              </a:spcAft>
              <a:buClr>
                <a:schemeClr val="lt1"/>
              </a:buClr>
              <a:buSzPts val="1300"/>
              <a:buFont typeface="Lato"/>
              <a:buChar char="●"/>
            </a:pPr>
            <a:r>
              <a:rPr lang="hu" sz="1300">
                <a:solidFill>
                  <a:schemeClr val="lt1"/>
                </a:solidFill>
                <a:latin typeface="Lato"/>
                <a:ea typeface="Lato"/>
                <a:cs typeface="Lato"/>
                <a:sym typeface="Lato"/>
              </a:rPr>
              <a:t>Horváth Noel</a:t>
            </a:r>
            <a:endParaRPr sz="1300">
              <a:solidFill>
                <a:schemeClr val="lt1"/>
              </a:solidFill>
              <a:latin typeface="Lato"/>
              <a:ea typeface="Lato"/>
              <a:cs typeface="Lato"/>
              <a:sym typeface="Lato"/>
            </a:endParaRPr>
          </a:p>
          <a:p>
            <a:pPr marL="457200" lvl="0" indent="-311150" algn="l" rtl="0">
              <a:spcBef>
                <a:spcPts val="0"/>
              </a:spcBef>
              <a:spcAft>
                <a:spcPts val="0"/>
              </a:spcAft>
              <a:buClr>
                <a:schemeClr val="lt1"/>
              </a:buClr>
              <a:buSzPts val="1300"/>
              <a:buFont typeface="Lato"/>
              <a:buChar char="●"/>
            </a:pPr>
            <a:r>
              <a:rPr lang="hu" sz="1300">
                <a:solidFill>
                  <a:schemeClr val="lt1"/>
                </a:solidFill>
                <a:latin typeface="Lato"/>
                <a:ea typeface="Lato"/>
                <a:cs typeface="Lato"/>
                <a:sym typeface="Lato"/>
              </a:rPr>
              <a:t>Malomi-Kovács Bence</a:t>
            </a:r>
            <a:endParaRPr sz="1300">
              <a:solidFill>
                <a:schemeClr val="lt1"/>
              </a:solidFill>
              <a:latin typeface="Lato"/>
              <a:ea typeface="Lato"/>
              <a:cs typeface="Lato"/>
              <a:sym typeface="Lato"/>
            </a:endParaRPr>
          </a:p>
        </p:txBody>
      </p:sp>
      <p:pic>
        <p:nvPicPr>
          <p:cNvPr id="137" name="Google Shape;137;p13" title="DP.png"/>
          <p:cNvPicPr preferRelativeResize="0"/>
          <p:nvPr/>
        </p:nvPicPr>
        <p:blipFill>
          <a:blip r:embed="rId4">
            <a:alphaModFix/>
          </a:blip>
          <a:stretch>
            <a:fillRect/>
          </a:stretch>
        </p:blipFill>
        <p:spPr>
          <a:xfrm>
            <a:off x="-148175" y="-400075"/>
            <a:ext cx="3949700" cy="3949700"/>
          </a:xfrm>
          <a:prstGeom prst="rect">
            <a:avLst/>
          </a:prstGeom>
          <a:noFill/>
          <a:ln>
            <a:noFill/>
          </a:ln>
        </p:spPr>
      </p:pic>
      <p:sp>
        <p:nvSpPr>
          <p:cNvPr id="138" name="Google Shape;138;p13"/>
          <p:cNvSpPr txBox="1"/>
          <p:nvPr/>
        </p:nvSpPr>
        <p:spPr>
          <a:xfrm>
            <a:off x="3064669" y="4677050"/>
            <a:ext cx="1572956" cy="36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hu" sz="1300" dirty="0">
                <a:solidFill>
                  <a:schemeClr val="lt1"/>
                </a:solidFill>
                <a:latin typeface="Lato"/>
                <a:ea typeface="Lato"/>
                <a:cs typeface="Lato"/>
                <a:sym typeface="Lato"/>
              </a:rPr>
              <a:t>http://digitpet.hu/</a:t>
            </a:r>
            <a:endParaRPr sz="1300" dirty="0">
              <a:solidFill>
                <a:schemeClr val="lt1"/>
              </a:solidFill>
              <a:latin typeface="Lato"/>
              <a:ea typeface="Lato"/>
              <a:cs typeface="Lato"/>
              <a:sym typeface="La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4"/>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hu" b="1"/>
              <a:t>A bilétáról</a:t>
            </a:r>
            <a:endParaRPr b="1"/>
          </a:p>
        </p:txBody>
      </p:sp>
      <p:sp>
        <p:nvSpPr>
          <p:cNvPr id="144" name="Google Shape;144;p14"/>
          <p:cNvSpPr txBox="1">
            <a:spLocks noGrp="1"/>
          </p:cNvSpPr>
          <p:nvPr>
            <p:ph type="body" idx="1"/>
          </p:nvPr>
        </p:nvSpPr>
        <p:spPr>
          <a:xfrm>
            <a:off x="0" y="1836300"/>
            <a:ext cx="4910400" cy="3307200"/>
          </a:xfrm>
          <a:prstGeom prst="rect">
            <a:avLst/>
          </a:prstGeom>
        </p:spPr>
        <p:txBody>
          <a:bodyPr spcFirstLastPara="1" wrap="square" lIns="91425" tIns="91425" rIns="91425" bIns="91425" anchor="t" anchorCtr="0">
            <a:normAutofit/>
          </a:bodyPr>
          <a:lstStyle/>
          <a:p>
            <a:pPr marL="457200" lvl="0" indent="-355600" algn="l" rtl="0">
              <a:lnSpc>
                <a:spcPct val="150000"/>
              </a:lnSpc>
              <a:spcBef>
                <a:spcPts val="0"/>
              </a:spcBef>
              <a:spcAft>
                <a:spcPts val="0"/>
              </a:spcAft>
              <a:buSzPts val="2000"/>
              <a:buChar char="●"/>
            </a:pPr>
            <a:r>
              <a:rPr lang="hu" sz="2000"/>
              <a:t>3D nyomtatott</a:t>
            </a:r>
            <a:endParaRPr sz="2000"/>
          </a:p>
          <a:p>
            <a:pPr marL="457200" lvl="0" indent="-355600" algn="l" rtl="0">
              <a:lnSpc>
                <a:spcPct val="150000"/>
              </a:lnSpc>
              <a:spcBef>
                <a:spcPts val="0"/>
              </a:spcBef>
              <a:spcAft>
                <a:spcPts val="0"/>
              </a:spcAft>
              <a:buSzPts val="2000"/>
              <a:buChar char="●"/>
            </a:pPr>
            <a:r>
              <a:rPr lang="hu" sz="2000"/>
              <a:t>NFC-chippel ellátott</a:t>
            </a:r>
            <a:endParaRPr sz="2000"/>
          </a:p>
          <a:p>
            <a:pPr marL="457200" lvl="0" indent="-355600" algn="l" rtl="0">
              <a:lnSpc>
                <a:spcPct val="150000"/>
              </a:lnSpc>
              <a:spcBef>
                <a:spcPts val="0"/>
              </a:spcBef>
              <a:spcAft>
                <a:spcPts val="0"/>
              </a:spcAft>
              <a:buSzPts val="2000"/>
              <a:buChar char="●"/>
            </a:pPr>
            <a:r>
              <a:rPr lang="hu" sz="2000"/>
              <a:t>A telefon hozzá érintésével olvasható</a:t>
            </a:r>
            <a:endParaRPr sz="2000"/>
          </a:p>
          <a:p>
            <a:pPr marL="457200" lvl="0" indent="-355600" algn="l" rtl="0">
              <a:spcBef>
                <a:spcPts val="0"/>
              </a:spcBef>
              <a:spcAft>
                <a:spcPts val="0"/>
              </a:spcAft>
              <a:buSzPts val="2000"/>
              <a:buChar char="●"/>
            </a:pPr>
            <a:r>
              <a:rPr lang="hu" sz="2000"/>
              <a:t>Egyedileg tervezett</a:t>
            </a:r>
            <a:endParaRPr sz="2000"/>
          </a:p>
        </p:txBody>
      </p:sp>
      <p:pic>
        <p:nvPicPr>
          <p:cNvPr id="145" name="Google Shape;145;p14" title="214fc28a-2bea-4850-a7db-2f7b1108ac15.png"/>
          <p:cNvPicPr preferRelativeResize="0"/>
          <p:nvPr/>
        </p:nvPicPr>
        <p:blipFill>
          <a:blip r:embed="rId3">
            <a:alphaModFix/>
          </a:blip>
          <a:stretch>
            <a:fillRect/>
          </a:stretch>
        </p:blipFill>
        <p:spPr>
          <a:xfrm>
            <a:off x="4805600" y="2251225"/>
            <a:ext cx="4338401" cy="2892275"/>
          </a:xfrm>
          <a:prstGeom prst="rect">
            <a:avLst/>
          </a:prstGeom>
          <a:noFill/>
          <a:ln>
            <a:noFill/>
          </a:ln>
        </p:spPr>
      </p:pic>
      <p:pic>
        <p:nvPicPr>
          <p:cNvPr id="146" name="Google Shape;146;p14" title="DP.png"/>
          <p:cNvPicPr preferRelativeResize="0"/>
          <p:nvPr/>
        </p:nvPicPr>
        <p:blipFill>
          <a:blip r:embed="rId4">
            <a:alphaModFix/>
          </a:blip>
          <a:stretch>
            <a:fillRect/>
          </a:stretch>
        </p:blipFill>
        <p:spPr>
          <a:xfrm>
            <a:off x="-224325" y="0"/>
            <a:ext cx="1816100" cy="18161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15"/>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hu" b="1"/>
              <a:t>A webshop használata</a:t>
            </a:r>
            <a:endParaRPr b="1"/>
          </a:p>
        </p:txBody>
      </p:sp>
      <p:sp>
        <p:nvSpPr>
          <p:cNvPr id="152" name="Google Shape;152;p15"/>
          <p:cNvSpPr txBox="1">
            <a:spLocks noGrp="1"/>
          </p:cNvSpPr>
          <p:nvPr>
            <p:ph type="body" idx="1"/>
          </p:nvPr>
        </p:nvSpPr>
        <p:spPr>
          <a:xfrm>
            <a:off x="117125" y="2245075"/>
            <a:ext cx="5024400" cy="2781300"/>
          </a:xfrm>
          <a:prstGeom prst="rect">
            <a:avLst/>
          </a:prstGeom>
        </p:spPr>
        <p:txBody>
          <a:bodyPr spcFirstLastPara="1" wrap="square" lIns="91425" tIns="91425" rIns="91425" bIns="91425" anchor="t" anchorCtr="0">
            <a:normAutofit/>
          </a:bodyPr>
          <a:lstStyle/>
          <a:p>
            <a:pPr marL="457200" lvl="0" indent="-336550" algn="l" rtl="0">
              <a:lnSpc>
                <a:spcPct val="150000"/>
              </a:lnSpc>
              <a:spcBef>
                <a:spcPts val="0"/>
              </a:spcBef>
              <a:spcAft>
                <a:spcPts val="0"/>
              </a:spcAft>
              <a:buSzPts val="1700"/>
              <a:buAutoNum type="arabicPeriod"/>
            </a:pPr>
            <a:r>
              <a:rPr lang="hu" sz="1700"/>
              <a:t>Regisztráció</a:t>
            </a:r>
            <a:endParaRPr sz="1700"/>
          </a:p>
          <a:p>
            <a:pPr marL="457200" lvl="0" indent="-336550" algn="l" rtl="0">
              <a:lnSpc>
                <a:spcPct val="150000"/>
              </a:lnSpc>
              <a:spcBef>
                <a:spcPts val="0"/>
              </a:spcBef>
              <a:spcAft>
                <a:spcPts val="0"/>
              </a:spcAft>
              <a:buSzPts val="1700"/>
              <a:buAutoNum type="arabicPeriod"/>
            </a:pPr>
            <a:r>
              <a:rPr lang="hu" sz="1700"/>
              <a:t>Állat regisztrálása </a:t>
            </a:r>
            <a:endParaRPr sz="1700"/>
          </a:p>
          <a:p>
            <a:pPr marL="457200" lvl="0" indent="-336550" algn="l" rtl="0">
              <a:lnSpc>
                <a:spcPct val="150000"/>
              </a:lnSpc>
              <a:spcBef>
                <a:spcPts val="0"/>
              </a:spcBef>
              <a:spcAft>
                <a:spcPts val="0"/>
              </a:spcAft>
              <a:buSzPts val="1700"/>
              <a:buAutoNum type="arabicPeriod"/>
            </a:pPr>
            <a:r>
              <a:rPr lang="hu" sz="1700"/>
              <a:t>Egyedi biléta megtervezése a kiválasztott háziállatra vagy választás a basic termékekből </a:t>
            </a:r>
            <a:endParaRPr sz="1700"/>
          </a:p>
          <a:p>
            <a:pPr marL="457200" lvl="0" indent="-336550" algn="l" rtl="0">
              <a:lnSpc>
                <a:spcPct val="150000"/>
              </a:lnSpc>
              <a:spcBef>
                <a:spcPts val="0"/>
              </a:spcBef>
              <a:spcAft>
                <a:spcPts val="0"/>
              </a:spcAft>
              <a:buSzPts val="1700"/>
              <a:buAutoNum type="arabicPeriod"/>
            </a:pPr>
            <a:r>
              <a:rPr lang="hu" sz="1700"/>
              <a:t>Kosárba helyezés </a:t>
            </a:r>
            <a:endParaRPr sz="1700"/>
          </a:p>
          <a:p>
            <a:pPr marL="457200" lvl="0" indent="-336550" algn="l" rtl="0">
              <a:lnSpc>
                <a:spcPct val="150000"/>
              </a:lnSpc>
              <a:spcBef>
                <a:spcPts val="0"/>
              </a:spcBef>
              <a:spcAft>
                <a:spcPts val="0"/>
              </a:spcAft>
              <a:buSzPts val="1700"/>
              <a:buAutoNum type="arabicPeriod"/>
            </a:pPr>
            <a:r>
              <a:rPr lang="hu" sz="1700"/>
              <a:t>Rendelés leadása</a:t>
            </a:r>
            <a:endParaRPr sz="1700"/>
          </a:p>
        </p:txBody>
      </p:sp>
      <p:pic>
        <p:nvPicPr>
          <p:cNvPr id="153" name="Google Shape;153;p15"/>
          <p:cNvPicPr preferRelativeResize="0"/>
          <p:nvPr/>
        </p:nvPicPr>
        <p:blipFill>
          <a:blip r:embed="rId3">
            <a:alphaModFix/>
          </a:blip>
          <a:stretch>
            <a:fillRect/>
          </a:stretch>
        </p:blipFill>
        <p:spPr>
          <a:xfrm rot="-825035">
            <a:off x="4878600" y="810675"/>
            <a:ext cx="3697675" cy="2978578"/>
          </a:xfrm>
          <a:prstGeom prst="rect">
            <a:avLst/>
          </a:prstGeom>
          <a:noFill/>
          <a:ln>
            <a:noFill/>
          </a:ln>
        </p:spPr>
      </p:pic>
      <p:pic>
        <p:nvPicPr>
          <p:cNvPr id="154" name="Google Shape;154;p15" title="fali_gyik_zsoldos_marton_c.png"/>
          <p:cNvPicPr preferRelativeResize="0"/>
          <p:nvPr/>
        </p:nvPicPr>
        <p:blipFill>
          <a:blip r:embed="rId4">
            <a:alphaModFix/>
          </a:blip>
          <a:stretch>
            <a:fillRect/>
          </a:stretch>
        </p:blipFill>
        <p:spPr>
          <a:xfrm>
            <a:off x="4677275" y="1307850"/>
            <a:ext cx="464250" cy="316500"/>
          </a:xfrm>
          <a:prstGeom prst="rect">
            <a:avLst/>
          </a:prstGeom>
          <a:noFill/>
          <a:ln>
            <a:noFill/>
          </a:ln>
        </p:spPr>
      </p:pic>
      <p:pic>
        <p:nvPicPr>
          <p:cNvPr id="155" name="Google Shape;155;p15" title="DP.png"/>
          <p:cNvPicPr preferRelativeResize="0"/>
          <p:nvPr/>
        </p:nvPicPr>
        <p:blipFill>
          <a:blip r:embed="rId5">
            <a:alphaModFix/>
          </a:blip>
          <a:stretch>
            <a:fillRect/>
          </a:stretch>
        </p:blipFill>
        <p:spPr>
          <a:xfrm>
            <a:off x="-224325" y="0"/>
            <a:ext cx="1816100" cy="18161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16"/>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hu" b="1"/>
              <a:t>Adatbázis</a:t>
            </a:r>
            <a:endParaRPr b="1"/>
          </a:p>
        </p:txBody>
      </p:sp>
      <p:sp>
        <p:nvSpPr>
          <p:cNvPr id="161" name="Google Shape;161;p16"/>
          <p:cNvSpPr txBox="1">
            <a:spLocks noGrp="1"/>
          </p:cNvSpPr>
          <p:nvPr>
            <p:ph type="body" idx="1"/>
          </p:nvPr>
        </p:nvSpPr>
        <p:spPr>
          <a:xfrm>
            <a:off x="-412750" y="3445675"/>
            <a:ext cx="4455600" cy="3564600"/>
          </a:xfrm>
          <a:prstGeom prst="rect">
            <a:avLst/>
          </a:prstGeom>
        </p:spPr>
        <p:txBody>
          <a:bodyPr spcFirstLastPara="1" wrap="square" lIns="91425" tIns="91425" rIns="91425" bIns="91425" anchor="t" anchorCtr="0">
            <a:normAutofit/>
          </a:bodyPr>
          <a:lstStyle/>
          <a:p>
            <a:pPr marL="457200" lvl="0" indent="0" algn="l" rtl="0">
              <a:spcBef>
                <a:spcPts val="0"/>
              </a:spcBef>
              <a:spcAft>
                <a:spcPts val="0"/>
              </a:spcAft>
              <a:buNone/>
            </a:pPr>
            <a:r>
              <a:rPr lang="hu" sz="1700"/>
              <a:t>A képeken az 5 táblás adatbázisunk kapcsolati rajza és annak szerveroldali kapcsolata látható </a:t>
            </a:r>
            <a:endParaRPr sz="1700"/>
          </a:p>
          <a:p>
            <a:pPr marL="457200" lvl="0" indent="0" algn="l" rtl="0">
              <a:spcBef>
                <a:spcPts val="1200"/>
              </a:spcBef>
              <a:spcAft>
                <a:spcPts val="1200"/>
              </a:spcAft>
              <a:buNone/>
            </a:pPr>
            <a:endParaRPr/>
          </a:p>
        </p:txBody>
      </p:sp>
      <p:pic>
        <p:nvPicPr>
          <p:cNvPr id="162" name="Google Shape;162;p16"/>
          <p:cNvPicPr preferRelativeResize="0"/>
          <p:nvPr/>
        </p:nvPicPr>
        <p:blipFill>
          <a:blip r:embed="rId3">
            <a:alphaModFix/>
          </a:blip>
          <a:stretch>
            <a:fillRect/>
          </a:stretch>
        </p:blipFill>
        <p:spPr>
          <a:xfrm>
            <a:off x="3884933" y="3026750"/>
            <a:ext cx="5259075" cy="2085001"/>
          </a:xfrm>
          <a:prstGeom prst="rect">
            <a:avLst/>
          </a:prstGeom>
          <a:noFill/>
          <a:ln>
            <a:noFill/>
          </a:ln>
        </p:spPr>
      </p:pic>
      <p:pic>
        <p:nvPicPr>
          <p:cNvPr id="163" name="Google Shape;163;p16"/>
          <p:cNvPicPr preferRelativeResize="0"/>
          <p:nvPr/>
        </p:nvPicPr>
        <p:blipFill>
          <a:blip r:embed="rId4">
            <a:alphaModFix/>
          </a:blip>
          <a:stretch>
            <a:fillRect/>
          </a:stretch>
        </p:blipFill>
        <p:spPr>
          <a:xfrm>
            <a:off x="3895525" y="-43300"/>
            <a:ext cx="5259074" cy="3058499"/>
          </a:xfrm>
          <a:prstGeom prst="rect">
            <a:avLst/>
          </a:prstGeom>
          <a:noFill/>
          <a:ln>
            <a:noFill/>
          </a:ln>
        </p:spPr>
      </p:pic>
      <p:pic>
        <p:nvPicPr>
          <p:cNvPr id="164" name="Google Shape;164;p16"/>
          <p:cNvPicPr preferRelativeResize="0"/>
          <p:nvPr/>
        </p:nvPicPr>
        <p:blipFill>
          <a:blip r:embed="rId5">
            <a:alphaModFix/>
          </a:blip>
          <a:stretch>
            <a:fillRect/>
          </a:stretch>
        </p:blipFill>
        <p:spPr>
          <a:xfrm>
            <a:off x="4873017" y="3216292"/>
            <a:ext cx="1330598" cy="123799"/>
          </a:xfrm>
          <a:prstGeom prst="rect">
            <a:avLst/>
          </a:prstGeom>
          <a:noFill/>
          <a:ln>
            <a:noFill/>
          </a:ln>
        </p:spPr>
      </p:pic>
      <p:pic>
        <p:nvPicPr>
          <p:cNvPr id="165" name="Google Shape;165;p16"/>
          <p:cNvPicPr preferRelativeResize="0"/>
          <p:nvPr/>
        </p:nvPicPr>
        <p:blipFill>
          <a:blip r:embed="rId5">
            <a:alphaModFix/>
          </a:blip>
          <a:stretch>
            <a:fillRect/>
          </a:stretch>
        </p:blipFill>
        <p:spPr>
          <a:xfrm>
            <a:off x="5158517" y="3385317"/>
            <a:ext cx="1330598" cy="128712"/>
          </a:xfrm>
          <a:prstGeom prst="rect">
            <a:avLst/>
          </a:prstGeom>
          <a:noFill/>
          <a:ln>
            <a:noFill/>
          </a:ln>
        </p:spPr>
      </p:pic>
      <p:pic>
        <p:nvPicPr>
          <p:cNvPr id="166" name="Google Shape;166;p16"/>
          <p:cNvPicPr preferRelativeResize="0"/>
          <p:nvPr/>
        </p:nvPicPr>
        <p:blipFill>
          <a:blip r:embed="rId5">
            <a:alphaModFix/>
          </a:blip>
          <a:stretch>
            <a:fillRect/>
          </a:stretch>
        </p:blipFill>
        <p:spPr>
          <a:xfrm>
            <a:off x="4807642" y="3554342"/>
            <a:ext cx="1330598" cy="123799"/>
          </a:xfrm>
          <a:prstGeom prst="rect">
            <a:avLst/>
          </a:prstGeom>
          <a:noFill/>
          <a:ln>
            <a:noFill/>
          </a:ln>
        </p:spPr>
      </p:pic>
      <p:pic>
        <p:nvPicPr>
          <p:cNvPr id="167" name="Google Shape;167;p16"/>
          <p:cNvPicPr preferRelativeResize="0"/>
          <p:nvPr/>
        </p:nvPicPr>
        <p:blipFill>
          <a:blip r:embed="rId5">
            <a:alphaModFix/>
          </a:blip>
          <a:stretch>
            <a:fillRect/>
          </a:stretch>
        </p:blipFill>
        <p:spPr>
          <a:xfrm>
            <a:off x="4602317" y="3723367"/>
            <a:ext cx="1330598" cy="123799"/>
          </a:xfrm>
          <a:prstGeom prst="rect">
            <a:avLst/>
          </a:prstGeom>
          <a:noFill/>
          <a:ln>
            <a:noFill/>
          </a:ln>
        </p:spPr>
      </p:pic>
      <p:pic>
        <p:nvPicPr>
          <p:cNvPr id="168" name="Google Shape;168;p16" title="DP.png"/>
          <p:cNvPicPr preferRelativeResize="0"/>
          <p:nvPr/>
        </p:nvPicPr>
        <p:blipFill>
          <a:blip r:embed="rId6">
            <a:alphaModFix/>
          </a:blip>
          <a:stretch>
            <a:fillRect/>
          </a:stretch>
        </p:blipFill>
        <p:spPr>
          <a:xfrm>
            <a:off x="-224325" y="0"/>
            <a:ext cx="1816100" cy="18161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17"/>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hu" b="1"/>
              <a:t>Regisztráció/Bejelentkezés</a:t>
            </a:r>
            <a:endParaRPr b="1"/>
          </a:p>
        </p:txBody>
      </p:sp>
      <p:sp>
        <p:nvSpPr>
          <p:cNvPr id="174" name="Google Shape;174;p17"/>
          <p:cNvSpPr txBox="1">
            <a:spLocks noGrp="1"/>
          </p:cNvSpPr>
          <p:nvPr>
            <p:ph type="body" idx="1"/>
          </p:nvPr>
        </p:nvSpPr>
        <p:spPr>
          <a:xfrm>
            <a:off x="0" y="2197975"/>
            <a:ext cx="5250900" cy="3563700"/>
          </a:xfrm>
          <a:prstGeom prst="rect">
            <a:avLst/>
          </a:prstGeom>
        </p:spPr>
        <p:txBody>
          <a:bodyPr spcFirstLastPara="1" wrap="square" lIns="91425" tIns="91425" rIns="91425" bIns="91425" anchor="t" anchorCtr="0">
            <a:normAutofit/>
          </a:bodyPr>
          <a:lstStyle/>
          <a:p>
            <a:pPr marL="457200" lvl="0" indent="-336550" algn="l" rtl="0">
              <a:spcBef>
                <a:spcPts val="0"/>
              </a:spcBef>
              <a:spcAft>
                <a:spcPts val="0"/>
              </a:spcAft>
              <a:buSzPts val="1700"/>
              <a:buChar char="●"/>
            </a:pPr>
            <a:r>
              <a:rPr lang="hu" sz="1700"/>
              <a:t>Modern, letisztult megjelenésű login panelt készítettünk.</a:t>
            </a:r>
            <a:endParaRPr sz="1700"/>
          </a:p>
          <a:p>
            <a:pPr marL="457200" lvl="0" indent="-336550" algn="l" rtl="0">
              <a:spcBef>
                <a:spcPts val="0"/>
              </a:spcBef>
              <a:spcAft>
                <a:spcPts val="0"/>
              </a:spcAft>
              <a:buSzPts val="1700"/>
              <a:buChar char="●"/>
            </a:pPr>
            <a:r>
              <a:rPr lang="hu" sz="1700"/>
              <a:t>Az adatok űrlapon keresztül kerülnek beküldésre, HTTP POST metódussal a backend felé.</a:t>
            </a:r>
            <a:endParaRPr sz="1700"/>
          </a:p>
          <a:p>
            <a:pPr marL="457200" lvl="0" indent="-336550" algn="l" rtl="0">
              <a:spcBef>
                <a:spcPts val="0"/>
              </a:spcBef>
              <a:spcAft>
                <a:spcPts val="0"/>
              </a:spcAft>
              <a:buSzPts val="1700"/>
              <a:buChar char="●"/>
            </a:pPr>
            <a:r>
              <a:rPr lang="hu" sz="1700"/>
              <a:t>A szerver az adatbázis segítségével ellenőrzi a felhasználói adatokat.</a:t>
            </a:r>
            <a:endParaRPr sz="1700"/>
          </a:p>
        </p:txBody>
      </p:sp>
      <p:pic>
        <p:nvPicPr>
          <p:cNvPr id="175" name="Google Shape;175;p17"/>
          <p:cNvPicPr preferRelativeResize="0"/>
          <p:nvPr/>
        </p:nvPicPr>
        <p:blipFill>
          <a:blip r:embed="rId3">
            <a:alphaModFix/>
          </a:blip>
          <a:stretch>
            <a:fillRect/>
          </a:stretch>
        </p:blipFill>
        <p:spPr>
          <a:xfrm rot="505917">
            <a:off x="6254850" y="294325"/>
            <a:ext cx="2529226" cy="2624800"/>
          </a:xfrm>
          <a:prstGeom prst="rect">
            <a:avLst/>
          </a:prstGeom>
          <a:noFill/>
          <a:ln>
            <a:noFill/>
          </a:ln>
        </p:spPr>
      </p:pic>
      <p:pic>
        <p:nvPicPr>
          <p:cNvPr id="176" name="Google Shape;176;p17"/>
          <p:cNvPicPr preferRelativeResize="0"/>
          <p:nvPr/>
        </p:nvPicPr>
        <p:blipFill>
          <a:blip r:embed="rId4">
            <a:alphaModFix/>
          </a:blip>
          <a:stretch>
            <a:fillRect/>
          </a:stretch>
        </p:blipFill>
        <p:spPr>
          <a:xfrm rot="-557058">
            <a:off x="5409725" y="2754025"/>
            <a:ext cx="1892075" cy="2122500"/>
          </a:xfrm>
          <a:prstGeom prst="rect">
            <a:avLst/>
          </a:prstGeom>
          <a:noFill/>
          <a:ln>
            <a:noFill/>
          </a:ln>
        </p:spPr>
      </p:pic>
      <p:pic>
        <p:nvPicPr>
          <p:cNvPr id="177" name="Google Shape;177;p17" title="DP.png"/>
          <p:cNvPicPr preferRelativeResize="0"/>
          <p:nvPr/>
        </p:nvPicPr>
        <p:blipFill>
          <a:blip r:embed="rId5">
            <a:alphaModFix/>
          </a:blip>
          <a:stretch>
            <a:fillRect/>
          </a:stretch>
        </p:blipFill>
        <p:spPr>
          <a:xfrm>
            <a:off x="-224325" y="0"/>
            <a:ext cx="1816100" cy="18161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18"/>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hu" b="1"/>
              <a:t>Profil oldal</a:t>
            </a:r>
            <a:endParaRPr b="1"/>
          </a:p>
        </p:txBody>
      </p:sp>
      <p:sp>
        <p:nvSpPr>
          <p:cNvPr id="183" name="Google Shape;183;p18"/>
          <p:cNvSpPr txBox="1">
            <a:spLocks noGrp="1"/>
          </p:cNvSpPr>
          <p:nvPr>
            <p:ph type="body" idx="1"/>
          </p:nvPr>
        </p:nvSpPr>
        <p:spPr>
          <a:xfrm>
            <a:off x="0" y="1993900"/>
            <a:ext cx="4572000" cy="3149700"/>
          </a:xfrm>
          <a:prstGeom prst="rect">
            <a:avLst/>
          </a:prstGeom>
        </p:spPr>
        <p:txBody>
          <a:bodyPr spcFirstLastPara="1" wrap="square" lIns="91425" tIns="91425" rIns="91425" bIns="91425" anchor="t" anchorCtr="0">
            <a:normAutofit lnSpcReduction="10000"/>
          </a:bodyPr>
          <a:lstStyle/>
          <a:p>
            <a:pPr marL="457200" lvl="0" indent="-336550" algn="l" rtl="0">
              <a:spcBef>
                <a:spcPts val="1200"/>
              </a:spcBef>
              <a:spcAft>
                <a:spcPts val="0"/>
              </a:spcAft>
              <a:buSzPts val="1700"/>
              <a:buChar char="●"/>
            </a:pPr>
            <a:r>
              <a:rPr lang="hu" sz="1700"/>
              <a:t>Felhasználói adatok biztonságos módosítása</a:t>
            </a:r>
            <a:br>
              <a:rPr lang="hu" sz="1700"/>
            </a:br>
            <a:r>
              <a:rPr lang="hu" sz="1700"/>
              <a:t> (felhasználónév, jelszó)</a:t>
            </a:r>
            <a:br>
              <a:rPr lang="hu" sz="1700"/>
            </a:br>
            <a:r>
              <a:rPr lang="hu" sz="1700"/>
              <a:t> Adatok űrlapon keresztüli frissítése a backend felé</a:t>
            </a:r>
            <a:br>
              <a:rPr lang="hu" sz="1700"/>
            </a:br>
            <a:endParaRPr sz="1700"/>
          </a:p>
          <a:p>
            <a:pPr marL="457200" lvl="0" indent="-336550" algn="l" rtl="0">
              <a:spcBef>
                <a:spcPts val="0"/>
              </a:spcBef>
              <a:spcAft>
                <a:spcPts val="0"/>
              </a:spcAft>
              <a:buSzPts val="1700"/>
              <a:buChar char="●"/>
            </a:pPr>
            <a:r>
              <a:rPr lang="hu" sz="1700"/>
              <a:t>Rendelések nyomon követése</a:t>
            </a:r>
            <a:br>
              <a:rPr lang="hu" sz="1700"/>
            </a:br>
            <a:r>
              <a:rPr lang="hu" sz="1700"/>
              <a:t> (időpont és kiválasztott állat megjelenítése)</a:t>
            </a:r>
            <a:endParaRPr sz="1700"/>
          </a:p>
          <a:p>
            <a:pPr marL="457200" lvl="0" indent="0" algn="l" rtl="0">
              <a:spcBef>
                <a:spcPts val="1200"/>
              </a:spcBef>
              <a:spcAft>
                <a:spcPts val="1200"/>
              </a:spcAft>
              <a:buNone/>
            </a:pPr>
            <a:endParaRPr sz="1700"/>
          </a:p>
        </p:txBody>
      </p:sp>
      <p:pic>
        <p:nvPicPr>
          <p:cNvPr id="184" name="Google Shape;184;p18"/>
          <p:cNvPicPr preferRelativeResize="0"/>
          <p:nvPr/>
        </p:nvPicPr>
        <p:blipFill>
          <a:blip r:embed="rId3">
            <a:alphaModFix/>
          </a:blip>
          <a:stretch>
            <a:fillRect/>
          </a:stretch>
        </p:blipFill>
        <p:spPr>
          <a:xfrm>
            <a:off x="4643025" y="0"/>
            <a:ext cx="4500974" cy="2851151"/>
          </a:xfrm>
          <a:prstGeom prst="rect">
            <a:avLst/>
          </a:prstGeom>
          <a:noFill/>
          <a:ln>
            <a:noFill/>
          </a:ln>
        </p:spPr>
      </p:pic>
      <p:pic>
        <p:nvPicPr>
          <p:cNvPr id="185" name="Google Shape;185;p18"/>
          <p:cNvPicPr preferRelativeResize="0"/>
          <p:nvPr/>
        </p:nvPicPr>
        <p:blipFill>
          <a:blip r:embed="rId4">
            <a:alphaModFix/>
          </a:blip>
          <a:stretch>
            <a:fillRect/>
          </a:stretch>
        </p:blipFill>
        <p:spPr>
          <a:xfrm>
            <a:off x="4643025" y="2851125"/>
            <a:ext cx="4500976" cy="1874475"/>
          </a:xfrm>
          <a:prstGeom prst="rect">
            <a:avLst/>
          </a:prstGeom>
          <a:noFill/>
          <a:ln>
            <a:noFill/>
          </a:ln>
        </p:spPr>
      </p:pic>
      <p:pic>
        <p:nvPicPr>
          <p:cNvPr id="186" name="Google Shape;186;p18" title="DP.png"/>
          <p:cNvPicPr preferRelativeResize="0"/>
          <p:nvPr/>
        </p:nvPicPr>
        <p:blipFill>
          <a:blip r:embed="rId5">
            <a:alphaModFix/>
          </a:blip>
          <a:stretch>
            <a:fillRect/>
          </a:stretch>
        </p:blipFill>
        <p:spPr>
          <a:xfrm>
            <a:off x="-224325" y="0"/>
            <a:ext cx="1816100" cy="1816100"/>
          </a:xfrm>
          <a:prstGeom prst="rect">
            <a:avLst/>
          </a:prstGeom>
          <a:noFill/>
          <a:ln>
            <a:noFill/>
          </a:ln>
        </p:spPr>
      </p:pic>
      <p:pic>
        <p:nvPicPr>
          <p:cNvPr id="187" name="Google Shape;187;p18"/>
          <p:cNvPicPr preferRelativeResize="0"/>
          <p:nvPr/>
        </p:nvPicPr>
        <p:blipFill>
          <a:blip r:embed="rId6">
            <a:alphaModFix/>
          </a:blip>
          <a:stretch>
            <a:fillRect/>
          </a:stretch>
        </p:blipFill>
        <p:spPr>
          <a:xfrm>
            <a:off x="240763" y="4831292"/>
            <a:ext cx="8429625" cy="2857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19"/>
          <p:cNvSpPr txBox="1">
            <a:spLocks noGrp="1"/>
          </p:cNvSpPr>
          <p:nvPr>
            <p:ph type="title"/>
          </p:nvPr>
        </p:nvSpPr>
        <p:spPr>
          <a:xfrm>
            <a:off x="1591775" y="393750"/>
            <a:ext cx="67446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hu" b="1"/>
              <a:t>Saját állatok adatai</a:t>
            </a:r>
            <a:endParaRPr b="1"/>
          </a:p>
        </p:txBody>
      </p:sp>
      <p:sp>
        <p:nvSpPr>
          <p:cNvPr id="193" name="Google Shape;193;p19"/>
          <p:cNvSpPr txBox="1">
            <a:spLocks noGrp="1"/>
          </p:cNvSpPr>
          <p:nvPr>
            <p:ph type="body" idx="1"/>
          </p:nvPr>
        </p:nvSpPr>
        <p:spPr>
          <a:xfrm>
            <a:off x="0" y="1666300"/>
            <a:ext cx="4006800" cy="3209700"/>
          </a:xfrm>
          <a:prstGeom prst="rect">
            <a:avLst/>
          </a:prstGeom>
        </p:spPr>
        <p:txBody>
          <a:bodyPr spcFirstLastPara="1" wrap="square" lIns="91425" tIns="91425" rIns="91425" bIns="91425" anchor="t" anchorCtr="0">
            <a:normAutofit lnSpcReduction="10000"/>
          </a:bodyPr>
          <a:lstStyle/>
          <a:p>
            <a:pPr marL="457200" lvl="0" indent="-336550" algn="l" rtl="0">
              <a:spcBef>
                <a:spcPts val="1200"/>
              </a:spcBef>
              <a:spcAft>
                <a:spcPts val="0"/>
              </a:spcAft>
              <a:buSzPts val="1700"/>
              <a:buChar char="●"/>
            </a:pPr>
            <a:r>
              <a:rPr lang="hu" sz="1700"/>
              <a:t>Új állat regisztrálása űrlapon keresztül</a:t>
            </a:r>
            <a:br>
              <a:rPr lang="hu" sz="1700"/>
            </a:br>
            <a:endParaRPr sz="1700"/>
          </a:p>
          <a:p>
            <a:pPr marL="457200" lvl="0" indent="-336550" algn="l" rtl="0">
              <a:spcBef>
                <a:spcPts val="0"/>
              </a:spcBef>
              <a:spcAft>
                <a:spcPts val="0"/>
              </a:spcAft>
              <a:buSzPts val="1700"/>
              <a:buChar char="●"/>
            </a:pPr>
            <a:r>
              <a:rPr lang="hu" sz="1700"/>
              <a:t> Adatok beküldése a backend felé és tárolása adatbázisban</a:t>
            </a:r>
            <a:br>
              <a:rPr lang="hu" sz="1700"/>
            </a:br>
            <a:endParaRPr sz="1700"/>
          </a:p>
          <a:p>
            <a:pPr marL="457200" lvl="0" indent="-336550" algn="l" rtl="0">
              <a:spcBef>
                <a:spcPts val="0"/>
              </a:spcBef>
              <a:spcAft>
                <a:spcPts val="0"/>
              </a:spcAft>
              <a:buSzPts val="1700"/>
              <a:buChar char="●"/>
            </a:pPr>
            <a:r>
              <a:rPr lang="hu" sz="1700"/>
              <a:t>Regisztrált állatok megjelenítése táblázatos formában</a:t>
            </a:r>
            <a:br>
              <a:rPr lang="hu" sz="1700"/>
            </a:br>
            <a:br>
              <a:rPr lang="hu" sz="1700"/>
            </a:br>
            <a:r>
              <a:rPr lang="hu" sz="1700"/>
              <a:t> Alapadatok kezelése és törlési lehetőség</a:t>
            </a:r>
            <a:endParaRPr/>
          </a:p>
        </p:txBody>
      </p:sp>
      <p:pic>
        <p:nvPicPr>
          <p:cNvPr id="194" name="Google Shape;194;p19" title="DP.png"/>
          <p:cNvPicPr preferRelativeResize="0"/>
          <p:nvPr/>
        </p:nvPicPr>
        <p:blipFill>
          <a:blip r:embed="rId3">
            <a:alphaModFix/>
          </a:blip>
          <a:stretch>
            <a:fillRect/>
          </a:stretch>
        </p:blipFill>
        <p:spPr>
          <a:xfrm>
            <a:off x="-224325" y="0"/>
            <a:ext cx="1816100" cy="1816100"/>
          </a:xfrm>
          <a:prstGeom prst="rect">
            <a:avLst/>
          </a:prstGeom>
          <a:noFill/>
          <a:ln>
            <a:noFill/>
          </a:ln>
        </p:spPr>
      </p:pic>
      <p:pic>
        <p:nvPicPr>
          <p:cNvPr id="195" name="Google Shape;195;p19"/>
          <p:cNvPicPr preferRelativeResize="0"/>
          <p:nvPr/>
        </p:nvPicPr>
        <p:blipFill>
          <a:blip r:embed="rId4">
            <a:alphaModFix/>
          </a:blip>
          <a:stretch>
            <a:fillRect/>
          </a:stretch>
        </p:blipFill>
        <p:spPr>
          <a:xfrm>
            <a:off x="4069000" y="1043525"/>
            <a:ext cx="5074999" cy="4099975"/>
          </a:xfrm>
          <a:prstGeom prst="rect">
            <a:avLst/>
          </a:prstGeom>
          <a:noFill/>
          <a:ln>
            <a:noFill/>
          </a:ln>
        </p:spPr>
      </p:pic>
      <p:pic>
        <p:nvPicPr>
          <p:cNvPr id="196" name="Google Shape;196;p19"/>
          <p:cNvPicPr preferRelativeResize="0"/>
          <p:nvPr/>
        </p:nvPicPr>
        <p:blipFill>
          <a:blip r:embed="rId5">
            <a:alphaModFix/>
          </a:blip>
          <a:stretch>
            <a:fillRect/>
          </a:stretch>
        </p:blipFill>
        <p:spPr>
          <a:xfrm>
            <a:off x="3790950" y="3176325"/>
            <a:ext cx="5353051" cy="16996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95"/>
                                        </p:tgtEl>
                                        <p:attrNameLst>
                                          <p:attrName>style.visibility</p:attrName>
                                        </p:attrNameLst>
                                      </p:cBhvr>
                                      <p:to>
                                        <p:strVal val="hidden"/>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1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20"/>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hu" b="1"/>
              <a:t>Termékek</a:t>
            </a:r>
            <a:endParaRPr b="1"/>
          </a:p>
        </p:txBody>
      </p:sp>
      <p:sp>
        <p:nvSpPr>
          <p:cNvPr id="202" name="Google Shape;202;p20"/>
          <p:cNvSpPr txBox="1">
            <a:spLocks noGrp="1"/>
          </p:cNvSpPr>
          <p:nvPr>
            <p:ph type="body" idx="1"/>
          </p:nvPr>
        </p:nvSpPr>
        <p:spPr>
          <a:xfrm>
            <a:off x="451625" y="1567550"/>
            <a:ext cx="2922000" cy="2911200"/>
          </a:xfrm>
          <a:prstGeom prst="rect">
            <a:avLst/>
          </a:prstGeom>
        </p:spPr>
        <p:txBody>
          <a:bodyPr spcFirstLastPara="1" wrap="square" lIns="91425" tIns="91425" rIns="91425" bIns="91425" anchor="t" anchorCtr="0">
            <a:normAutofit/>
          </a:bodyPr>
          <a:lstStyle/>
          <a:p>
            <a:pPr marL="457200" lvl="0" indent="-311150" algn="l" rtl="0">
              <a:spcBef>
                <a:spcPts val="0"/>
              </a:spcBef>
              <a:spcAft>
                <a:spcPts val="0"/>
              </a:spcAft>
              <a:buSzPts val="1300"/>
              <a:buChar char="●"/>
            </a:pPr>
            <a:r>
              <a:rPr lang="hu"/>
              <a:t>Basic termékekből kétféle van</a:t>
            </a:r>
            <a:br>
              <a:rPr lang="hu"/>
            </a:br>
            <a:endParaRPr/>
          </a:p>
          <a:p>
            <a:pPr marL="457200" lvl="0" indent="-311150" algn="l" rtl="0">
              <a:spcBef>
                <a:spcPts val="0"/>
              </a:spcBef>
              <a:spcAft>
                <a:spcPts val="0"/>
              </a:spcAft>
              <a:buSzPts val="1300"/>
              <a:buChar char="●"/>
            </a:pPr>
            <a:r>
              <a:rPr lang="hu"/>
              <a:t>Ki kell választani az egyik állatot hogy melyik állat adatai legyenek ráírva a chip-re</a:t>
            </a:r>
            <a:endParaRPr/>
          </a:p>
        </p:txBody>
      </p:sp>
      <p:pic>
        <p:nvPicPr>
          <p:cNvPr id="203" name="Google Shape;203;p20" title="DP.png"/>
          <p:cNvPicPr preferRelativeResize="0"/>
          <p:nvPr/>
        </p:nvPicPr>
        <p:blipFill>
          <a:blip r:embed="rId3">
            <a:alphaModFix/>
          </a:blip>
          <a:stretch>
            <a:fillRect/>
          </a:stretch>
        </p:blipFill>
        <p:spPr>
          <a:xfrm>
            <a:off x="-224325" y="0"/>
            <a:ext cx="1816100" cy="1816100"/>
          </a:xfrm>
          <a:prstGeom prst="rect">
            <a:avLst/>
          </a:prstGeom>
          <a:noFill/>
          <a:ln>
            <a:noFill/>
          </a:ln>
        </p:spPr>
      </p:pic>
      <p:pic>
        <p:nvPicPr>
          <p:cNvPr id="204" name="Google Shape;204;p20"/>
          <p:cNvPicPr preferRelativeResize="0"/>
          <p:nvPr/>
        </p:nvPicPr>
        <p:blipFill>
          <a:blip r:embed="rId4">
            <a:alphaModFix/>
          </a:blip>
          <a:stretch>
            <a:fillRect/>
          </a:stretch>
        </p:blipFill>
        <p:spPr>
          <a:xfrm>
            <a:off x="3678425" y="2146775"/>
            <a:ext cx="5465574" cy="2996726"/>
          </a:xfrm>
          <a:prstGeom prst="rect">
            <a:avLst/>
          </a:prstGeom>
          <a:noFill/>
          <a:ln>
            <a:noFill/>
          </a:ln>
        </p:spPr>
      </p:pic>
      <p:pic>
        <p:nvPicPr>
          <p:cNvPr id="205" name="Google Shape;205;p20"/>
          <p:cNvPicPr preferRelativeResize="0"/>
          <p:nvPr/>
        </p:nvPicPr>
        <p:blipFill>
          <a:blip r:embed="rId5">
            <a:alphaModFix/>
          </a:blip>
          <a:stretch>
            <a:fillRect/>
          </a:stretch>
        </p:blipFill>
        <p:spPr>
          <a:xfrm>
            <a:off x="3678425" y="0"/>
            <a:ext cx="5465575" cy="21573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21"/>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hu" b="1"/>
              <a:t>Biléta tervező</a:t>
            </a:r>
            <a:endParaRPr b="1"/>
          </a:p>
        </p:txBody>
      </p:sp>
      <p:sp>
        <p:nvSpPr>
          <p:cNvPr id="211" name="Google Shape;211;p21"/>
          <p:cNvSpPr txBox="1">
            <a:spLocks noGrp="1"/>
          </p:cNvSpPr>
          <p:nvPr>
            <p:ph type="body" idx="1"/>
          </p:nvPr>
        </p:nvSpPr>
        <p:spPr>
          <a:xfrm>
            <a:off x="162675" y="1449075"/>
            <a:ext cx="3745800" cy="3542400"/>
          </a:xfrm>
          <a:prstGeom prst="rect">
            <a:avLst/>
          </a:prstGeom>
        </p:spPr>
        <p:txBody>
          <a:bodyPr spcFirstLastPara="1" wrap="square" lIns="91425" tIns="91425" rIns="91425" bIns="91425" anchor="t" anchorCtr="0">
            <a:normAutofit/>
          </a:bodyPr>
          <a:lstStyle/>
          <a:p>
            <a:pPr marL="457200" lvl="0" indent="-311150" algn="l" rtl="0">
              <a:spcBef>
                <a:spcPts val="0"/>
              </a:spcBef>
              <a:spcAft>
                <a:spcPts val="0"/>
              </a:spcAft>
              <a:buSzPts val="1300"/>
              <a:buChar char="●"/>
            </a:pPr>
            <a:r>
              <a:rPr lang="hu"/>
              <a:t>Egyedi biléta létrehozása</a:t>
            </a:r>
            <a:br>
              <a:rPr lang="hu"/>
            </a:br>
            <a:endParaRPr/>
          </a:p>
          <a:p>
            <a:pPr marL="457200" lvl="0" indent="-311150" algn="l" rtl="0">
              <a:spcBef>
                <a:spcPts val="0"/>
              </a:spcBef>
              <a:spcAft>
                <a:spcPts val="0"/>
              </a:spcAft>
              <a:buSzPts val="1300"/>
              <a:buChar char="●"/>
            </a:pPr>
            <a:r>
              <a:rPr lang="hu"/>
              <a:t>Ki kell választani az egyik állatot hogy melyik állat adatai legyenek ráírva a chip-re</a:t>
            </a:r>
            <a:br>
              <a:rPr lang="hu"/>
            </a:br>
            <a:endParaRPr/>
          </a:p>
          <a:p>
            <a:pPr marL="457200" lvl="0" indent="-311150" algn="l" rtl="0">
              <a:spcBef>
                <a:spcPts val="0"/>
              </a:spcBef>
              <a:spcAft>
                <a:spcPts val="0"/>
              </a:spcAft>
              <a:buSzPts val="1300"/>
              <a:buChar char="●"/>
            </a:pPr>
            <a:r>
              <a:rPr lang="hu"/>
              <a:t>3 féle forma közül lehet választani</a:t>
            </a:r>
            <a:br>
              <a:rPr lang="hu"/>
            </a:br>
            <a:endParaRPr/>
          </a:p>
          <a:p>
            <a:pPr marL="457200" lvl="0" indent="-311150" algn="l" rtl="0">
              <a:spcBef>
                <a:spcPts val="0"/>
              </a:spcBef>
              <a:spcAft>
                <a:spcPts val="0"/>
              </a:spcAft>
              <a:buSzPts val="1300"/>
              <a:buChar char="●"/>
            </a:pPr>
            <a:r>
              <a:rPr lang="hu"/>
              <a:t>Színe egyedi</a:t>
            </a:r>
            <a:br>
              <a:rPr lang="hu"/>
            </a:br>
            <a:endParaRPr/>
          </a:p>
          <a:p>
            <a:pPr marL="457200" lvl="0" indent="-311150" algn="l" rtl="0">
              <a:spcBef>
                <a:spcPts val="0"/>
              </a:spcBef>
              <a:spcAft>
                <a:spcPts val="0"/>
              </a:spcAft>
              <a:buSzPts val="1300"/>
              <a:buChar char="●"/>
            </a:pPr>
            <a:r>
              <a:rPr lang="hu"/>
              <a:t>A szövegenek és az alapnak külön lehet színt állítani</a:t>
            </a:r>
            <a:br>
              <a:rPr lang="hu"/>
            </a:br>
            <a:endParaRPr/>
          </a:p>
          <a:p>
            <a:pPr marL="457200" lvl="0" indent="-311150" algn="l" rtl="0">
              <a:spcBef>
                <a:spcPts val="0"/>
              </a:spcBef>
              <a:spcAft>
                <a:spcPts val="0"/>
              </a:spcAft>
              <a:buSzPts val="1300"/>
              <a:buChar char="●"/>
            </a:pPr>
            <a:r>
              <a:rPr lang="hu"/>
              <a:t>Felirat egyedileg adható</a:t>
            </a:r>
            <a:endParaRPr/>
          </a:p>
        </p:txBody>
      </p:sp>
      <p:pic>
        <p:nvPicPr>
          <p:cNvPr id="212" name="Google Shape;212;p21" title="DP.png"/>
          <p:cNvPicPr preferRelativeResize="0"/>
          <p:nvPr/>
        </p:nvPicPr>
        <p:blipFill>
          <a:blip r:embed="rId3">
            <a:alphaModFix/>
          </a:blip>
          <a:stretch>
            <a:fillRect/>
          </a:stretch>
        </p:blipFill>
        <p:spPr>
          <a:xfrm>
            <a:off x="-224325" y="0"/>
            <a:ext cx="1816100" cy="1816100"/>
          </a:xfrm>
          <a:prstGeom prst="rect">
            <a:avLst/>
          </a:prstGeom>
          <a:noFill/>
          <a:ln>
            <a:noFill/>
          </a:ln>
        </p:spPr>
      </p:pic>
      <p:pic>
        <p:nvPicPr>
          <p:cNvPr id="213" name="Google Shape;213;p21"/>
          <p:cNvPicPr preferRelativeResize="0"/>
          <p:nvPr/>
        </p:nvPicPr>
        <p:blipFill>
          <a:blip r:embed="rId4">
            <a:alphaModFix/>
          </a:blip>
          <a:stretch>
            <a:fillRect/>
          </a:stretch>
        </p:blipFill>
        <p:spPr>
          <a:xfrm>
            <a:off x="5674773" y="0"/>
            <a:ext cx="3469225" cy="4261601"/>
          </a:xfrm>
          <a:prstGeom prst="rect">
            <a:avLst/>
          </a:prstGeom>
          <a:noFill/>
          <a:ln>
            <a:noFill/>
          </a:ln>
        </p:spPr>
      </p:pic>
      <p:pic>
        <p:nvPicPr>
          <p:cNvPr id="214" name="Google Shape;214;p21"/>
          <p:cNvPicPr preferRelativeResize="0"/>
          <p:nvPr/>
        </p:nvPicPr>
        <p:blipFill>
          <a:blip r:embed="rId5">
            <a:alphaModFix/>
          </a:blip>
          <a:stretch>
            <a:fillRect/>
          </a:stretch>
        </p:blipFill>
        <p:spPr>
          <a:xfrm>
            <a:off x="3982124" y="-15772"/>
            <a:ext cx="1669650" cy="1669650"/>
          </a:xfrm>
          <a:prstGeom prst="rect">
            <a:avLst/>
          </a:prstGeom>
          <a:noFill/>
          <a:ln>
            <a:noFill/>
          </a:ln>
        </p:spPr>
      </p:pic>
      <p:pic>
        <p:nvPicPr>
          <p:cNvPr id="215" name="Google Shape;215;p21"/>
          <p:cNvPicPr preferRelativeResize="0"/>
          <p:nvPr/>
        </p:nvPicPr>
        <p:blipFill>
          <a:blip r:embed="rId6">
            <a:alphaModFix/>
          </a:blip>
          <a:stretch>
            <a:fillRect/>
          </a:stretch>
        </p:blipFill>
        <p:spPr>
          <a:xfrm>
            <a:off x="3982125" y="1643301"/>
            <a:ext cx="1669650" cy="1816100"/>
          </a:xfrm>
          <a:prstGeom prst="rect">
            <a:avLst/>
          </a:prstGeom>
          <a:noFill/>
          <a:ln>
            <a:noFill/>
          </a:ln>
        </p:spPr>
      </p:pic>
      <p:pic>
        <p:nvPicPr>
          <p:cNvPr id="216" name="Google Shape;216;p21"/>
          <p:cNvPicPr preferRelativeResize="0"/>
          <p:nvPr/>
        </p:nvPicPr>
        <p:blipFill>
          <a:blip r:embed="rId7">
            <a:alphaModFix/>
          </a:blip>
          <a:stretch>
            <a:fillRect/>
          </a:stretch>
        </p:blipFill>
        <p:spPr>
          <a:xfrm>
            <a:off x="3982125" y="3401475"/>
            <a:ext cx="1669650" cy="1750450"/>
          </a:xfrm>
          <a:prstGeom prst="rect">
            <a:avLst/>
          </a:prstGeom>
          <a:noFill/>
          <a:ln>
            <a:noFill/>
          </a:ln>
        </p:spPr>
      </p:pic>
      <p:pic>
        <p:nvPicPr>
          <p:cNvPr id="217" name="Google Shape;217;p21"/>
          <p:cNvPicPr preferRelativeResize="0"/>
          <p:nvPr/>
        </p:nvPicPr>
        <p:blipFill>
          <a:blip r:embed="rId8">
            <a:alphaModFix/>
          </a:blip>
          <a:stretch>
            <a:fillRect/>
          </a:stretch>
        </p:blipFill>
        <p:spPr>
          <a:xfrm>
            <a:off x="4814097" y="0"/>
            <a:ext cx="4393406"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14"/>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215"/>
                                        </p:tgtEl>
                                        <p:attrNameLst>
                                          <p:attrName>style.visibility</p:attrName>
                                        </p:attrNameLst>
                                      </p:cBhvr>
                                      <p:to>
                                        <p:strVal val="hidden"/>
                                      </p:to>
                                    </p:set>
                                  </p:childTnLst>
                                </p:cTn>
                              </p:par>
                              <p:par>
                                <p:cTn id="9" presetID="1" presetClass="exit" presetSubtype="0" fill="hold" nodeType="withEffect">
                                  <p:stCondLst>
                                    <p:cond delay="0"/>
                                  </p:stCondLst>
                                  <p:childTnLst>
                                    <p:set>
                                      <p:cBhvr>
                                        <p:cTn id="10" dur="1" fill="hold">
                                          <p:stCondLst>
                                            <p:cond delay="0"/>
                                          </p:stCondLst>
                                        </p:cTn>
                                        <p:tgtEl>
                                          <p:spTgt spid="216"/>
                                        </p:tgtEl>
                                        <p:attrNameLst>
                                          <p:attrName>style.visibility</p:attrName>
                                        </p:attrNameLst>
                                      </p:cBhvr>
                                      <p:to>
                                        <p:strVal val="hidden"/>
                                      </p:to>
                                    </p:set>
                                  </p:childTnLst>
                                </p:cTn>
                              </p:par>
                              <p:par>
                                <p:cTn id="11" presetID="1" presetClass="exit" presetSubtype="0" fill="hold" nodeType="withEffect">
                                  <p:stCondLst>
                                    <p:cond delay="0"/>
                                  </p:stCondLst>
                                  <p:childTnLst>
                                    <p:set>
                                      <p:cBhvr>
                                        <p:cTn id="12" dur="1" fill="hold">
                                          <p:stCondLst>
                                            <p:cond delay="0"/>
                                          </p:stCondLst>
                                        </p:cTn>
                                        <p:tgtEl>
                                          <p:spTgt spid="213"/>
                                        </p:tgtEl>
                                        <p:attrNameLst>
                                          <p:attrName>style.visibility</p:attrName>
                                        </p:attrNameLst>
                                      </p:cBhvr>
                                      <p:to>
                                        <p:strVal val="hidden"/>
                                      </p:to>
                                    </p:set>
                                  </p:childTnLst>
                                </p:cTn>
                              </p:par>
                            </p:childTnLst>
                          </p:cTn>
                        </p:par>
                        <p:par>
                          <p:cTn id="13" fill="hold">
                            <p:stCondLst>
                              <p:cond delay="0"/>
                            </p:stCondLst>
                            <p:childTnLst>
                              <p:par>
                                <p:cTn id="14" presetID="1" presetClass="entr" presetSubtype="0" fill="hold" nodeType="afterEffect">
                                  <p:stCondLst>
                                    <p:cond delay="0"/>
                                  </p:stCondLst>
                                  <p:childTnLst>
                                    <p:set>
                                      <p:cBhvr>
                                        <p:cTn id="15" dur="1" fill="hold">
                                          <p:stCondLst>
                                            <p:cond delay="0"/>
                                          </p:stCondLst>
                                        </p:cTn>
                                        <p:tgtEl>
                                          <p:spTgt spid="2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22"/>
          <p:cNvSpPr txBox="1">
            <a:spLocks noGrp="1"/>
          </p:cNvSpPr>
          <p:nvPr>
            <p:ph type="title"/>
          </p:nvPr>
        </p:nvSpPr>
        <p:spPr>
          <a:xfrm>
            <a:off x="1436625" y="45100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hu" b="1"/>
              <a:t>Kosár</a:t>
            </a:r>
            <a:endParaRPr b="1"/>
          </a:p>
        </p:txBody>
      </p:sp>
      <p:sp>
        <p:nvSpPr>
          <p:cNvPr id="223" name="Google Shape;223;p22"/>
          <p:cNvSpPr txBox="1">
            <a:spLocks noGrp="1"/>
          </p:cNvSpPr>
          <p:nvPr>
            <p:ph type="body" idx="1"/>
          </p:nvPr>
        </p:nvSpPr>
        <p:spPr>
          <a:xfrm>
            <a:off x="473425" y="1631750"/>
            <a:ext cx="2325900" cy="2911200"/>
          </a:xfrm>
          <a:prstGeom prst="rect">
            <a:avLst/>
          </a:prstGeom>
        </p:spPr>
        <p:txBody>
          <a:bodyPr spcFirstLastPara="1" wrap="square" lIns="91425" tIns="91425" rIns="91425" bIns="91425" anchor="t" anchorCtr="0">
            <a:normAutofit lnSpcReduction="20000"/>
          </a:bodyPr>
          <a:lstStyle/>
          <a:p>
            <a:pPr marL="457200" lvl="0" indent="-311150" algn="l" rtl="0">
              <a:spcBef>
                <a:spcPts val="0"/>
              </a:spcBef>
              <a:spcAft>
                <a:spcPts val="0"/>
              </a:spcAft>
              <a:buSzPts val="1300"/>
              <a:buChar char="●"/>
            </a:pPr>
            <a:r>
              <a:rPr lang="hu"/>
              <a:t>A kiválasztott NFC biléták összesítése és kezelése.</a:t>
            </a:r>
            <a:br>
              <a:rPr lang="hu"/>
            </a:br>
            <a:endParaRPr/>
          </a:p>
          <a:p>
            <a:pPr marL="457200" lvl="0" indent="-311150" algn="l" rtl="0">
              <a:spcBef>
                <a:spcPts val="0"/>
              </a:spcBef>
              <a:spcAft>
                <a:spcPts val="0"/>
              </a:spcAft>
              <a:buSzPts val="1300"/>
              <a:buChar char="●"/>
            </a:pPr>
            <a:r>
              <a:rPr lang="hu"/>
              <a:t>A rendelés véglegesítése előtt itt látható minden kiválasztott elem.</a:t>
            </a:r>
            <a:br>
              <a:rPr lang="hu"/>
            </a:br>
            <a:endParaRPr/>
          </a:p>
          <a:p>
            <a:pPr marL="457200" lvl="0" indent="-311150" algn="l" rtl="0">
              <a:spcBef>
                <a:spcPts val="0"/>
              </a:spcBef>
              <a:spcAft>
                <a:spcPts val="0"/>
              </a:spcAft>
              <a:buSzPts val="1300"/>
              <a:buChar char="●"/>
            </a:pPr>
            <a:r>
              <a:rPr lang="hu"/>
              <a:t>Emellett itt lehet megadni a szállítási adatokat is (check out)</a:t>
            </a:r>
            <a:endParaRPr/>
          </a:p>
          <a:p>
            <a:pPr marL="457200" lvl="0" indent="0" algn="l" rtl="0">
              <a:spcBef>
                <a:spcPts val="1200"/>
              </a:spcBef>
              <a:spcAft>
                <a:spcPts val="1200"/>
              </a:spcAft>
              <a:buNone/>
            </a:pPr>
            <a:endParaRPr/>
          </a:p>
        </p:txBody>
      </p:sp>
      <p:pic>
        <p:nvPicPr>
          <p:cNvPr id="224" name="Google Shape;224;p22" title="DP.png"/>
          <p:cNvPicPr preferRelativeResize="0"/>
          <p:nvPr/>
        </p:nvPicPr>
        <p:blipFill>
          <a:blip r:embed="rId3">
            <a:alphaModFix/>
          </a:blip>
          <a:stretch>
            <a:fillRect/>
          </a:stretch>
        </p:blipFill>
        <p:spPr>
          <a:xfrm>
            <a:off x="-224325" y="0"/>
            <a:ext cx="1816100" cy="1816100"/>
          </a:xfrm>
          <a:prstGeom prst="rect">
            <a:avLst/>
          </a:prstGeom>
          <a:noFill/>
          <a:ln>
            <a:noFill/>
          </a:ln>
        </p:spPr>
      </p:pic>
      <p:pic>
        <p:nvPicPr>
          <p:cNvPr id="225" name="Google Shape;225;p22"/>
          <p:cNvPicPr preferRelativeResize="0"/>
          <p:nvPr/>
        </p:nvPicPr>
        <p:blipFill>
          <a:blip r:embed="rId4">
            <a:alphaModFix/>
          </a:blip>
          <a:stretch>
            <a:fillRect/>
          </a:stretch>
        </p:blipFill>
        <p:spPr>
          <a:xfrm>
            <a:off x="2799350" y="528700"/>
            <a:ext cx="6344650" cy="3946625"/>
          </a:xfrm>
          <a:prstGeom prst="rect">
            <a:avLst/>
          </a:prstGeom>
          <a:noFill/>
          <a:ln>
            <a:noFill/>
          </a:ln>
        </p:spPr>
      </p:pic>
      <p:pic>
        <p:nvPicPr>
          <p:cNvPr id="226" name="Google Shape;226;p22"/>
          <p:cNvPicPr preferRelativeResize="0"/>
          <p:nvPr/>
        </p:nvPicPr>
        <p:blipFill>
          <a:blip r:embed="rId5">
            <a:alphaModFix/>
          </a:blip>
          <a:stretch>
            <a:fillRect/>
          </a:stretch>
        </p:blipFill>
        <p:spPr>
          <a:xfrm>
            <a:off x="4447513" y="0"/>
            <a:ext cx="4696498" cy="5143499"/>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26"/>
                                        </p:tgtEl>
                                        <p:attrNameLst>
                                          <p:attrName>style.visibility</p:attrName>
                                        </p:attrNameLst>
                                      </p:cBhvr>
                                      <p:to>
                                        <p:strVal val="hidden"/>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23"/>
          <p:cNvSpPr txBox="1">
            <a:spLocks noGrp="1"/>
          </p:cNvSpPr>
          <p:nvPr>
            <p:ph type="title"/>
          </p:nvPr>
        </p:nvSpPr>
        <p:spPr>
          <a:xfrm>
            <a:off x="1297500" y="393750"/>
            <a:ext cx="32745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hu" b="1"/>
              <a:t>A reszponzivitásról</a:t>
            </a:r>
            <a:endParaRPr/>
          </a:p>
        </p:txBody>
      </p:sp>
      <p:sp>
        <p:nvSpPr>
          <p:cNvPr id="232" name="Google Shape;232;p23"/>
          <p:cNvSpPr txBox="1">
            <a:spLocks noGrp="1"/>
          </p:cNvSpPr>
          <p:nvPr>
            <p:ph type="body" idx="1"/>
          </p:nvPr>
        </p:nvSpPr>
        <p:spPr>
          <a:xfrm>
            <a:off x="604500" y="1675350"/>
            <a:ext cx="2429100" cy="2911200"/>
          </a:xfrm>
          <a:prstGeom prst="rect">
            <a:avLst/>
          </a:prstGeom>
        </p:spPr>
        <p:txBody>
          <a:bodyPr spcFirstLastPara="1" wrap="square" lIns="91425" tIns="91425" rIns="91425" bIns="91425" anchor="t" anchorCtr="0">
            <a:normAutofit/>
          </a:bodyPr>
          <a:lstStyle/>
          <a:p>
            <a:pPr marL="457200" lvl="0" indent="-311150" algn="l" rtl="0">
              <a:spcBef>
                <a:spcPts val="0"/>
              </a:spcBef>
              <a:spcAft>
                <a:spcPts val="0"/>
              </a:spcAft>
              <a:buSzPts val="1300"/>
              <a:buChar char="●"/>
            </a:pPr>
            <a:r>
              <a:rPr lang="hu"/>
              <a:t>Reszponzív megjelenésű a teljes oldal</a:t>
            </a:r>
            <a:br>
              <a:rPr lang="hu"/>
            </a:br>
            <a:endParaRPr/>
          </a:p>
          <a:p>
            <a:pPr marL="457200" lvl="0" indent="-311150" algn="l" rtl="0">
              <a:spcBef>
                <a:spcPts val="0"/>
              </a:spcBef>
              <a:spcAft>
                <a:spcPts val="0"/>
              </a:spcAft>
              <a:buSzPts val="1300"/>
              <a:buChar char="●"/>
            </a:pPr>
            <a:r>
              <a:rPr lang="hu"/>
              <a:t>Összecsukható menü a kisebb eszközökön</a:t>
            </a:r>
            <a:endParaRPr/>
          </a:p>
        </p:txBody>
      </p:sp>
      <p:pic>
        <p:nvPicPr>
          <p:cNvPr id="233" name="Google Shape;233;p23" title="DP.png"/>
          <p:cNvPicPr preferRelativeResize="0"/>
          <p:nvPr/>
        </p:nvPicPr>
        <p:blipFill>
          <a:blip r:embed="rId3">
            <a:alphaModFix/>
          </a:blip>
          <a:stretch>
            <a:fillRect/>
          </a:stretch>
        </p:blipFill>
        <p:spPr>
          <a:xfrm>
            <a:off x="-224325" y="0"/>
            <a:ext cx="1816100" cy="1816100"/>
          </a:xfrm>
          <a:prstGeom prst="rect">
            <a:avLst/>
          </a:prstGeom>
          <a:noFill/>
          <a:ln>
            <a:noFill/>
          </a:ln>
        </p:spPr>
      </p:pic>
      <p:pic>
        <p:nvPicPr>
          <p:cNvPr id="234" name="Google Shape;234;p23"/>
          <p:cNvPicPr preferRelativeResize="0"/>
          <p:nvPr/>
        </p:nvPicPr>
        <p:blipFill>
          <a:blip r:embed="rId4">
            <a:alphaModFix/>
          </a:blip>
          <a:stretch>
            <a:fillRect/>
          </a:stretch>
        </p:blipFill>
        <p:spPr>
          <a:xfrm>
            <a:off x="7020299" y="252600"/>
            <a:ext cx="2124150" cy="4521401"/>
          </a:xfrm>
          <a:prstGeom prst="rect">
            <a:avLst/>
          </a:prstGeom>
          <a:noFill/>
          <a:ln>
            <a:noFill/>
          </a:ln>
        </p:spPr>
      </p:pic>
      <p:pic>
        <p:nvPicPr>
          <p:cNvPr id="235" name="Google Shape;235;p23" title="Screenshot_2026-04-13-16-40-20-254_com.android.chrome.jpg"/>
          <p:cNvPicPr preferRelativeResize="0"/>
          <p:nvPr/>
        </p:nvPicPr>
        <p:blipFill>
          <a:blip r:embed="rId5">
            <a:alphaModFix/>
          </a:blip>
          <a:stretch>
            <a:fillRect/>
          </a:stretch>
        </p:blipFill>
        <p:spPr>
          <a:xfrm>
            <a:off x="5103988" y="1014609"/>
            <a:ext cx="1762200" cy="3759391"/>
          </a:xfrm>
          <a:prstGeom prst="rect">
            <a:avLst/>
          </a:prstGeom>
          <a:noFill/>
          <a:ln>
            <a:noFill/>
          </a:ln>
        </p:spPr>
      </p:pic>
      <p:pic>
        <p:nvPicPr>
          <p:cNvPr id="236" name="Google Shape;236;p23" title="Screenshot_2026-04-13-17-12-11-178_com.android.chrome.jpg"/>
          <p:cNvPicPr preferRelativeResize="0"/>
          <p:nvPr/>
        </p:nvPicPr>
        <p:blipFill>
          <a:blip r:embed="rId6">
            <a:alphaModFix/>
          </a:blip>
          <a:stretch>
            <a:fillRect/>
          </a:stretch>
        </p:blipFill>
        <p:spPr>
          <a:xfrm>
            <a:off x="3187712" y="1012683"/>
            <a:ext cx="1762186" cy="3763241"/>
          </a:xfrm>
          <a:prstGeom prst="rect">
            <a:avLst/>
          </a:prstGeom>
          <a:noFill/>
          <a:ln>
            <a:noFill/>
          </a:ln>
        </p:spPr>
      </p:pic>
      <p:pic>
        <p:nvPicPr>
          <p:cNvPr id="237" name="Google Shape;237;p23"/>
          <p:cNvPicPr preferRelativeResize="0"/>
          <p:nvPr/>
        </p:nvPicPr>
        <p:blipFill>
          <a:blip r:embed="rId7">
            <a:alphaModFix/>
          </a:blip>
          <a:stretch>
            <a:fillRect/>
          </a:stretch>
        </p:blipFill>
        <p:spPr>
          <a:xfrm>
            <a:off x="0" y="4825039"/>
            <a:ext cx="9144000" cy="31847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24"/>
          <p:cNvSpPr txBox="1">
            <a:spLocks noGrp="1"/>
          </p:cNvSpPr>
          <p:nvPr>
            <p:ph type="title"/>
          </p:nvPr>
        </p:nvSpPr>
        <p:spPr>
          <a:xfrm>
            <a:off x="1297500" y="393750"/>
            <a:ext cx="15300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hu" b="1"/>
              <a:t>Admin</a:t>
            </a:r>
            <a:endParaRPr b="1"/>
          </a:p>
        </p:txBody>
      </p:sp>
      <p:sp>
        <p:nvSpPr>
          <p:cNvPr id="243" name="Google Shape;243;p24"/>
          <p:cNvSpPr txBox="1">
            <a:spLocks noGrp="1"/>
          </p:cNvSpPr>
          <p:nvPr>
            <p:ph type="body" idx="1"/>
          </p:nvPr>
        </p:nvSpPr>
        <p:spPr>
          <a:xfrm>
            <a:off x="3007775" y="465675"/>
            <a:ext cx="6136200" cy="29112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hu" sz="1700"/>
              <a:t>A képen az admin panel látható ahol a leadott termékek listája jelenik meg időrendi sorrendben és a fizikai chip és a szállítási adatok tartalmával.</a:t>
            </a:r>
            <a:endParaRPr sz="1700"/>
          </a:p>
        </p:txBody>
      </p:sp>
      <p:pic>
        <p:nvPicPr>
          <p:cNvPr id="244" name="Google Shape;244;p24" title="DP.png"/>
          <p:cNvPicPr preferRelativeResize="0"/>
          <p:nvPr/>
        </p:nvPicPr>
        <p:blipFill>
          <a:blip r:embed="rId3">
            <a:alphaModFix/>
          </a:blip>
          <a:stretch>
            <a:fillRect/>
          </a:stretch>
        </p:blipFill>
        <p:spPr>
          <a:xfrm>
            <a:off x="-224325" y="0"/>
            <a:ext cx="1816100" cy="1816100"/>
          </a:xfrm>
          <a:prstGeom prst="rect">
            <a:avLst/>
          </a:prstGeom>
          <a:noFill/>
          <a:ln>
            <a:noFill/>
          </a:ln>
        </p:spPr>
      </p:pic>
      <p:pic>
        <p:nvPicPr>
          <p:cNvPr id="245" name="Google Shape;245;p24"/>
          <p:cNvPicPr preferRelativeResize="0"/>
          <p:nvPr/>
        </p:nvPicPr>
        <p:blipFill>
          <a:blip r:embed="rId4">
            <a:alphaModFix/>
          </a:blip>
          <a:stretch>
            <a:fillRect/>
          </a:stretch>
        </p:blipFill>
        <p:spPr>
          <a:xfrm>
            <a:off x="55650" y="1643725"/>
            <a:ext cx="9032702" cy="3457196"/>
          </a:xfrm>
          <a:prstGeom prst="rect">
            <a:avLst/>
          </a:prstGeom>
          <a:noFill/>
          <a:ln>
            <a:noFill/>
          </a:ln>
        </p:spPr>
      </p:pic>
      <p:pic>
        <p:nvPicPr>
          <p:cNvPr id="246" name="Google Shape;246;p24"/>
          <p:cNvPicPr preferRelativeResize="0"/>
          <p:nvPr/>
        </p:nvPicPr>
        <p:blipFill>
          <a:blip r:embed="rId5">
            <a:alphaModFix/>
          </a:blip>
          <a:stretch>
            <a:fillRect/>
          </a:stretch>
        </p:blipFill>
        <p:spPr>
          <a:xfrm>
            <a:off x="3919174" y="1442725"/>
            <a:ext cx="4409300" cy="36582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6"/>
                                        </p:tgtEl>
                                        <p:attrNameLst>
                                          <p:attrName>style.visibility</p:attrName>
                                        </p:attrNameLst>
                                      </p:cBhvr>
                                      <p:to>
                                        <p:strVal val="visible"/>
                                      </p:to>
                                    </p:set>
                                  </p:childTnLst>
                                </p:cTn>
                              </p:par>
                            </p:childTnLst>
                          </p:cTn>
                        </p:par>
                        <p:par>
                          <p:cTn id="7" fill="hold">
                            <p:stCondLst>
                              <p:cond delay="0"/>
                            </p:stCondLst>
                            <p:childTnLst>
                              <p:par>
                                <p:cTn id="8" presetID="1" presetClass="exit" presetSubtype="0" fill="hold" nodeType="afterEffect">
                                  <p:stCondLst>
                                    <p:cond delay="0"/>
                                  </p:stCondLst>
                                  <p:childTnLst>
                                    <p:set>
                                      <p:cBhvr>
                                        <p:cTn id="9" dur="1" fill="hold">
                                          <p:stCondLst>
                                            <p:cond delay="0"/>
                                          </p:stCondLst>
                                        </p:cTn>
                                        <p:tgtEl>
                                          <p:spTgt spid="24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pic>
        <p:nvPicPr>
          <p:cNvPr id="251" name="Google Shape;251;p25" title="login_hatter.png"/>
          <p:cNvPicPr preferRelativeResize="0"/>
          <p:nvPr/>
        </p:nvPicPr>
        <p:blipFill>
          <a:blip r:embed="rId3">
            <a:alphaModFix/>
          </a:blip>
          <a:stretch>
            <a:fillRect/>
          </a:stretch>
        </p:blipFill>
        <p:spPr>
          <a:xfrm>
            <a:off x="-229400" y="-674250"/>
            <a:ext cx="9446173" cy="6297475"/>
          </a:xfrm>
          <a:prstGeom prst="rect">
            <a:avLst/>
          </a:prstGeom>
          <a:noFill/>
          <a:ln>
            <a:noFill/>
          </a:ln>
        </p:spPr>
      </p:pic>
      <p:sp>
        <p:nvSpPr>
          <p:cNvPr id="252" name="Google Shape;252;p25"/>
          <p:cNvSpPr txBox="1">
            <a:spLocks noGrp="1"/>
          </p:cNvSpPr>
          <p:nvPr>
            <p:ph type="title"/>
          </p:nvPr>
        </p:nvSpPr>
        <p:spPr>
          <a:xfrm>
            <a:off x="1052550" y="2114700"/>
            <a:ext cx="7038900" cy="914100"/>
          </a:xfrm>
          <a:prstGeom prst="rect">
            <a:avLst/>
          </a:prstGeom>
          <a:effectLst>
            <a:outerShdw blurRad="57150" dist="95250" dir="7200000" algn="bl" rotWithShape="0">
              <a:srgbClr val="FFFF00">
                <a:alpha val="50000"/>
              </a:srgbClr>
            </a:outerShdw>
          </a:effectLst>
        </p:spPr>
        <p:txBody>
          <a:bodyPr spcFirstLastPara="1" wrap="square" lIns="91425" tIns="91425" rIns="91425" bIns="91425" anchor="t" anchorCtr="0">
            <a:normAutofit/>
          </a:bodyPr>
          <a:lstStyle/>
          <a:p>
            <a:pPr marL="0" lvl="0" indent="0" algn="ctr" rtl="0">
              <a:spcBef>
                <a:spcPts val="0"/>
              </a:spcBef>
              <a:spcAft>
                <a:spcPts val="0"/>
              </a:spcAft>
              <a:buNone/>
            </a:pPr>
            <a:r>
              <a:rPr lang="hu" sz="4500">
                <a:solidFill>
                  <a:srgbClr val="000000"/>
                </a:solidFill>
                <a:latin typeface="Permanent Marker"/>
                <a:ea typeface="Permanent Marker"/>
                <a:cs typeface="Permanent Marker"/>
                <a:sym typeface="Permanent Marker"/>
              </a:rPr>
              <a:t>Köszönjük a figyelmet!</a:t>
            </a:r>
            <a:endParaRPr sz="4500">
              <a:solidFill>
                <a:srgbClr val="000000"/>
              </a:solidFill>
              <a:latin typeface="Permanent Marker"/>
              <a:ea typeface="Permanent Marker"/>
              <a:cs typeface="Permanent Marker"/>
              <a:sym typeface="Permanent Marker"/>
            </a:endParaRPr>
          </a:p>
        </p:txBody>
      </p:sp>
      <p:sp>
        <p:nvSpPr>
          <p:cNvPr id="253" name="Google Shape;253;p25"/>
          <p:cNvSpPr txBox="1">
            <a:spLocks noGrp="1"/>
          </p:cNvSpPr>
          <p:nvPr>
            <p:ph type="body" idx="1"/>
          </p:nvPr>
        </p:nvSpPr>
        <p:spPr>
          <a:xfrm>
            <a:off x="-408525" y="4318025"/>
            <a:ext cx="4251600" cy="1136100"/>
          </a:xfrm>
          <a:prstGeom prst="rect">
            <a:avLst/>
          </a:prstGeom>
          <a:effectLst>
            <a:outerShdw blurRad="57150" dist="95250" dir="7200000" algn="bl" rotWithShape="0">
              <a:srgbClr val="000000"/>
            </a:outerShdw>
          </a:effectLst>
        </p:spPr>
        <p:txBody>
          <a:bodyPr spcFirstLastPara="1" wrap="square" lIns="91425" tIns="91425" rIns="91425" bIns="91425" anchor="t" anchorCtr="0">
            <a:noAutofit/>
          </a:bodyPr>
          <a:lstStyle/>
          <a:p>
            <a:pPr marL="0" lvl="0" indent="0" algn="r" rtl="0">
              <a:spcBef>
                <a:spcPts val="0"/>
              </a:spcBef>
              <a:spcAft>
                <a:spcPts val="1200"/>
              </a:spcAft>
              <a:buNone/>
            </a:pPr>
            <a:r>
              <a:rPr lang="hu" sz="2100" i="1">
                <a:solidFill>
                  <a:srgbClr val="FFFF00"/>
                </a:solidFill>
              </a:rPr>
              <a:t>BGéSZC Szily Kálmán Technikum</a:t>
            </a:r>
            <a:endParaRPr sz="2100" i="1">
              <a:solidFill>
                <a:srgbClr val="FFFF00"/>
              </a:solidFill>
            </a:endParaRPr>
          </a:p>
        </p:txBody>
      </p:sp>
      <p:sp>
        <p:nvSpPr>
          <p:cNvPr id="254" name="Google Shape;254;p25"/>
          <p:cNvSpPr txBox="1"/>
          <p:nvPr/>
        </p:nvSpPr>
        <p:spPr>
          <a:xfrm>
            <a:off x="3573200" y="3028800"/>
            <a:ext cx="2111700" cy="736200"/>
          </a:xfrm>
          <a:prstGeom prst="rect">
            <a:avLst/>
          </a:prstGeom>
          <a:noFill/>
          <a:ln>
            <a:noFill/>
          </a:ln>
          <a:effectLst>
            <a:outerShdw blurRad="57150" dist="95250" dir="7200000" algn="bl" rotWithShape="0">
              <a:srgbClr val="FFFF00">
                <a:alpha val="50000"/>
              </a:srgbClr>
            </a:outerShdw>
          </a:effectLst>
        </p:spPr>
        <p:txBody>
          <a:bodyPr spcFirstLastPara="1" wrap="square" lIns="91425" tIns="91425" rIns="91425" bIns="91425" anchor="t" anchorCtr="0">
            <a:noAutofit/>
          </a:bodyPr>
          <a:lstStyle/>
          <a:p>
            <a:pPr marL="0" lvl="0" indent="0" algn="l" rtl="0">
              <a:spcBef>
                <a:spcPts val="0"/>
              </a:spcBef>
              <a:spcAft>
                <a:spcPts val="0"/>
              </a:spcAft>
              <a:buNone/>
            </a:pPr>
            <a:r>
              <a:rPr lang="hu" sz="3000">
                <a:latin typeface="Impact"/>
                <a:ea typeface="Impact"/>
                <a:cs typeface="Impact"/>
                <a:sym typeface="Impact"/>
              </a:rPr>
              <a:t>digitpet.hu</a:t>
            </a:r>
            <a:endParaRPr sz="3000">
              <a:latin typeface="Impact"/>
              <a:ea typeface="Impact"/>
              <a:cs typeface="Impact"/>
              <a:sym typeface="Impact"/>
            </a:endParaRPr>
          </a:p>
        </p:txBody>
      </p:sp>
      <p:pic>
        <p:nvPicPr>
          <p:cNvPr id="255" name="Google Shape;255;p25" title="DP.png"/>
          <p:cNvPicPr preferRelativeResize="0"/>
          <p:nvPr/>
        </p:nvPicPr>
        <p:blipFill>
          <a:blip r:embed="rId4">
            <a:alphaModFix/>
          </a:blip>
          <a:stretch>
            <a:fillRect/>
          </a:stretch>
        </p:blipFill>
        <p:spPr>
          <a:xfrm>
            <a:off x="2909600" y="-413125"/>
            <a:ext cx="3175000" cy="3175000"/>
          </a:xfrm>
          <a:prstGeom prst="rect">
            <a:avLst/>
          </a:prstGeom>
          <a:noFill/>
          <a:ln>
            <a:noFill/>
          </a:ln>
          <a:effectLst>
            <a:outerShdw blurRad="57150" dist="142875" dir="7200000" algn="bl" rotWithShape="0">
              <a:srgbClr val="FFFF00">
                <a:alpha val="50000"/>
              </a:srgbClr>
            </a:outerShdw>
          </a:effectLst>
        </p:spPr>
      </p:pic>
      <p:sp>
        <p:nvSpPr>
          <p:cNvPr id="256" name="Google Shape;256;p25"/>
          <p:cNvSpPr txBox="1"/>
          <p:nvPr/>
        </p:nvSpPr>
        <p:spPr>
          <a:xfrm>
            <a:off x="6698050" y="4038150"/>
            <a:ext cx="2290500" cy="985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hu" sz="1300">
                <a:solidFill>
                  <a:schemeClr val="lt1"/>
                </a:solidFill>
                <a:latin typeface="Lato"/>
                <a:ea typeface="Lato"/>
                <a:cs typeface="Lato"/>
                <a:sym typeface="Lato"/>
              </a:rPr>
              <a:t>Készítették:</a:t>
            </a:r>
            <a:endParaRPr sz="1300">
              <a:solidFill>
                <a:schemeClr val="lt1"/>
              </a:solidFill>
              <a:latin typeface="Lato"/>
              <a:ea typeface="Lato"/>
              <a:cs typeface="Lato"/>
              <a:sym typeface="Lato"/>
            </a:endParaRPr>
          </a:p>
          <a:p>
            <a:pPr marL="457200" lvl="0" indent="-311150" algn="l" rtl="0">
              <a:spcBef>
                <a:spcPts val="0"/>
              </a:spcBef>
              <a:spcAft>
                <a:spcPts val="0"/>
              </a:spcAft>
              <a:buClr>
                <a:schemeClr val="lt1"/>
              </a:buClr>
              <a:buSzPts val="1300"/>
              <a:buFont typeface="Lato"/>
              <a:buChar char="●"/>
            </a:pPr>
            <a:r>
              <a:rPr lang="hu" sz="1300">
                <a:solidFill>
                  <a:schemeClr val="lt1"/>
                </a:solidFill>
                <a:latin typeface="Lato"/>
                <a:ea typeface="Lato"/>
                <a:cs typeface="Lato"/>
                <a:sym typeface="Lato"/>
              </a:rPr>
              <a:t>Vincze Gergő</a:t>
            </a:r>
            <a:endParaRPr sz="1300">
              <a:solidFill>
                <a:schemeClr val="lt1"/>
              </a:solidFill>
              <a:latin typeface="Lato"/>
              <a:ea typeface="Lato"/>
              <a:cs typeface="Lato"/>
              <a:sym typeface="Lato"/>
            </a:endParaRPr>
          </a:p>
          <a:p>
            <a:pPr marL="457200" lvl="0" indent="-311150" algn="l" rtl="0">
              <a:spcBef>
                <a:spcPts val="0"/>
              </a:spcBef>
              <a:spcAft>
                <a:spcPts val="0"/>
              </a:spcAft>
              <a:buClr>
                <a:schemeClr val="lt1"/>
              </a:buClr>
              <a:buSzPts val="1300"/>
              <a:buFont typeface="Lato"/>
              <a:buChar char="●"/>
            </a:pPr>
            <a:r>
              <a:rPr lang="hu" sz="1300">
                <a:solidFill>
                  <a:schemeClr val="lt1"/>
                </a:solidFill>
                <a:latin typeface="Lato"/>
                <a:ea typeface="Lato"/>
                <a:cs typeface="Lato"/>
                <a:sym typeface="Lato"/>
              </a:rPr>
              <a:t>Horváth Noel</a:t>
            </a:r>
            <a:endParaRPr sz="1300">
              <a:solidFill>
                <a:schemeClr val="lt1"/>
              </a:solidFill>
              <a:latin typeface="Lato"/>
              <a:ea typeface="Lato"/>
              <a:cs typeface="Lato"/>
              <a:sym typeface="Lato"/>
            </a:endParaRPr>
          </a:p>
          <a:p>
            <a:pPr marL="457200" lvl="0" indent="-311150" algn="l" rtl="0">
              <a:spcBef>
                <a:spcPts val="0"/>
              </a:spcBef>
              <a:spcAft>
                <a:spcPts val="0"/>
              </a:spcAft>
              <a:buClr>
                <a:schemeClr val="lt1"/>
              </a:buClr>
              <a:buSzPts val="1300"/>
              <a:buFont typeface="Lato"/>
              <a:buChar char="●"/>
            </a:pPr>
            <a:r>
              <a:rPr lang="hu" sz="1300">
                <a:solidFill>
                  <a:schemeClr val="lt1"/>
                </a:solidFill>
                <a:latin typeface="Lato"/>
                <a:ea typeface="Lato"/>
                <a:cs typeface="Lato"/>
                <a:sym typeface="Lato"/>
              </a:rPr>
              <a:t>Malomi-Kovács Bence</a:t>
            </a:r>
            <a:endParaRPr sz="1300">
              <a:solidFill>
                <a:schemeClr val="lt1"/>
              </a:solidFill>
              <a:latin typeface="Lato"/>
              <a:ea typeface="Lato"/>
              <a:cs typeface="Lato"/>
              <a:sym typeface="Lato"/>
            </a:endParaRPr>
          </a:p>
        </p:txBody>
      </p:sp>
    </p:spTree>
  </p:cSld>
  <p:clrMapOvr>
    <a:masterClrMapping/>
  </p:clrMapOvr>
</p:sld>
</file>

<file path=ppt/theme/theme1.xml><?xml version="1.0" encoding="utf-8"?>
<a:theme xmlns:a="http://schemas.openxmlformats.org/drawingml/2006/main"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763</Words>
  <Application>Microsoft Office PowerPoint</Application>
  <PresentationFormat>Diavetítés a képernyőre (16:9 oldalarány)</PresentationFormat>
  <Paragraphs>67</Paragraphs>
  <Slides>13</Slides>
  <Notes>13</Notes>
  <HiddenSlides>0</HiddenSlides>
  <MMClips>0</MMClips>
  <ScaleCrop>false</ScaleCrop>
  <HeadingPairs>
    <vt:vector size="6" baseType="variant">
      <vt:variant>
        <vt:lpstr>Használt betűtípusok</vt:lpstr>
      </vt:variant>
      <vt:variant>
        <vt:i4>5</vt:i4>
      </vt:variant>
      <vt:variant>
        <vt:lpstr>Téma</vt:lpstr>
      </vt:variant>
      <vt:variant>
        <vt:i4>1</vt:i4>
      </vt:variant>
      <vt:variant>
        <vt:lpstr>Diacímek</vt:lpstr>
      </vt:variant>
      <vt:variant>
        <vt:i4>13</vt:i4>
      </vt:variant>
    </vt:vector>
  </HeadingPairs>
  <TitlesOfParts>
    <vt:vector size="19" baseType="lpstr">
      <vt:lpstr>Impact</vt:lpstr>
      <vt:lpstr>Permanent Marker</vt:lpstr>
      <vt:lpstr>Lato</vt:lpstr>
      <vt:lpstr>Montserrat</vt:lpstr>
      <vt:lpstr>Arial</vt:lpstr>
      <vt:lpstr>Focus</vt:lpstr>
      <vt:lpstr>DigitPet</vt:lpstr>
      <vt:lpstr>A bilétáról</vt:lpstr>
      <vt:lpstr>A webshop használata</vt:lpstr>
      <vt:lpstr>Adatbázis</vt:lpstr>
      <vt:lpstr>Regisztráció/Bejelentkezés</vt:lpstr>
      <vt:lpstr>Profil oldal</vt:lpstr>
      <vt:lpstr>Saját állatok adatai</vt:lpstr>
      <vt:lpstr>Termékek</vt:lpstr>
      <vt:lpstr>Biléta tervező</vt:lpstr>
      <vt:lpstr>Kosár</vt:lpstr>
      <vt:lpstr>A reszponzivitásról</vt:lpstr>
      <vt:lpstr>Admin</vt:lpstr>
      <vt:lpstr>Köszönjük a figyelmet!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O365 felhasználó</cp:lastModifiedBy>
  <cp:revision>1</cp:revision>
  <dcterms:modified xsi:type="dcterms:W3CDTF">2026-04-13T15:43:17Z</dcterms:modified>
</cp:coreProperties>
</file>