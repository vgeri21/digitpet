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Montserrat"/>
      <p:regular r:id="rId18"/>
      <p:bold r:id="rId19"/>
      <p:italic r:id="rId20"/>
      <p:boldItalic r:id="rId21"/>
    </p:embeddedFont>
    <p:embeddedFont>
      <p:font typeface="Lato"/>
      <p:regular r:id="rId22"/>
      <p:bold r:id="rId23"/>
      <p:italic r:id="rId24"/>
      <p:boldItalic r:id="rId25"/>
    </p:embeddedFont>
    <p:embeddedFont>
      <p:font typeface="Permanent Marker"/>
      <p:regular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italic.fntdata"/><Relationship Id="rId22" Type="http://schemas.openxmlformats.org/officeDocument/2006/relationships/font" Target="fonts/Lato-regular.fntdata"/><Relationship Id="rId21" Type="http://schemas.openxmlformats.org/officeDocument/2006/relationships/font" Target="fonts/Montserrat-boldItalic.fntdata"/><Relationship Id="rId24" Type="http://schemas.openxmlformats.org/officeDocument/2006/relationships/font" Target="fonts/Lato-italic.fntdata"/><Relationship Id="rId23" Type="http://schemas.openxmlformats.org/officeDocument/2006/relationships/font" Target="fonts/Lato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PermanentMarker-regular.fntdata"/><Relationship Id="rId25" Type="http://schemas.openxmlformats.org/officeDocument/2006/relationships/font" Target="fonts/La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Montserrat-bold.fntdata"/><Relationship Id="rId18" Type="http://schemas.openxmlformats.org/officeDocument/2006/relationships/font" Target="fonts/Montserrat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8b6fbbc02b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8b6fbbc02b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8b6fbbc02b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8b6fbbc02b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/>
              <a:t>valami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8b6fbbc02b_2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8b6fbbc02b_2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hu"/>
              <a:t>Ezen a dián az adatbázisunk felépítése látható, amely több, egymással kapcsolatban álló táblából áll. Ezek a táblák kezelik például a felhasználókat, az állatokat és a rendeléseket.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hu"/>
              <a:t>A kapcsolatok biztosítják, hogy az adatok összekapcsolhatók legyenek, például egy felhasználóhoz több állat és rendelés is tartozhat.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hu"/>
              <a:t>Az alsó részen a szerveroldali adatbázis-kapcsolat látható, ahol PHP segítségével csatlakozunk az adatbázishoz, és ezen keresztül végezzük az adatok lekérdezését és módosítását.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8b6fbbc02b_1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8b6fbbc02b_1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hu"/>
            </a:br>
            <a:r>
              <a:rPr lang="hu"/>
              <a:t>A regisztrációs felület új felhasználók létrehozására szolgál. A felhasználó megadja az adatait egy űrlapon, amelyeket a rendszer elküld a szervernek. A backend ellenőrzi az adatok helyességét, majd eltárolja azokat az adatbázisban. Siker esetén a felhasználó létrejön, ellenkező esetben hibaüzenetet kap.</a:t>
            </a:r>
            <a:br>
              <a:rPr lang="hu"/>
            </a:br>
            <a:br>
              <a:rPr lang="hu"/>
            </a:br>
            <a:r>
              <a:rPr lang="hu"/>
              <a:t>A login panel a felhasználó azonosítására szolgál. Egy egyszerű űrlapból áll, ahol a felhasználó megadja az adatait, amelyeket a rendszer elküld a szervernek. A backend kapcsolatba lép az adatbázissal, és ellenőrzi, hogy a megadott adatok egyeznek-e a tárolt felhasználói adatokkal. Ha igen, a bejelentkezés sikeres, ellenkező esetben hibaüzenetet kap a felhasználó.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8b6fbbc02b_2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8b6fbbc02b_2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hu"/>
              <a:t>A profil oldalon a felhasználó módosítani tudja a saját adatait, például a felhasználónevét és a jelszavát. Ezek az adatok űrlapon keresztül kerülnek elküldésre a backendnek, ahol az adatbázis frissítése történik.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hu"/>
              <a:t>Emellett a felhasználó megtekintheti a korábbi rendeléseit is, ahol látható a rendelés időpontja, valamint az, hogy melyik állatra készült.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8b6fbbc02b_2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8b6fbbc02b_2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/>
              <a:t>Ezen az oldalon a felhasználó új állatot tud regisztrálni egy űrlap segítségével, ahol megadja az alapadatokat, például a nevét, fajtáját és egyéb információkat. Az adatok elküldésre kerülnek a backendnek, ahol az adatbázisban tárolódnak.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hu"/>
              <a:t>Az oldal alsó részén a már regisztrált állatok jelennek meg egy táblázatban, ahol láthatók a megadott adatok, valamint lehetőség van az egyes elemek törlésére is.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8b6fbbc02b_2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8b6fbbc02b_2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8b6fbbc02b_2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8b6fbbc02b_2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8b6fbbc02b_2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38b6fbbc02b_2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8b6fbbc02b_2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38b6fbbc02b_2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/>
              <a:t>„Ez a kódrészlet az admin felület része, ahol először egy jogosultságellenőrzés történik: csak az admin felhasználók férhetnek hozzá az oldalhoz, különben a rendszer leállítja a futást. Ezután egy adatbázis lekérdezés fut, ami a már leadott rendelések adatait kéri le, összekapcsolva a felhasználók táblájával. Az eredményeket egy asszociatív tömbbe rendezi, így könnyen kezelhető és megjeleníthető formában kapjuk vissza a rendelési adatokat.”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8b6fbbc02b_2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38b6fbbc02b_2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8.png"/><Relationship Id="rId4" Type="http://schemas.openxmlformats.org/officeDocument/2006/relationships/image" Target="../media/image1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4.png"/><Relationship Id="rId4" Type="http://schemas.openxmlformats.org/officeDocument/2006/relationships/image" Target="../media/image1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5.png"/><Relationship Id="rId4" Type="http://schemas.openxmlformats.org/officeDocument/2006/relationships/image" Target="../media/image4.png"/><Relationship Id="rId5" Type="http://schemas.openxmlformats.org/officeDocument/2006/relationships/image" Target="../media/image1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8.png"/><Relationship Id="rId5" Type="http://schemas.openxmlformats.org/officeDocument/2006/relationships/image" Target="../media/image7.png"/><Relationship Id="rId6" Type="http://schemas.openxmlformats.org/officeDocument/2006/relationships/image" Target="../media/image1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1.png"/><Relationship Id="rId5" Type="http://schemas.openxmlformats.org/officeDocument/2006/relationships/image" Target="../media/image1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18.png"/><Relationship Id="rId6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8.png"/><Relationship Id="rId4" Type="http://schemas.openxmlformats.org/officeDocument/2006/relationships/image" Target="../media/image11.png"/><Relationship Id="rId5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8.png"/><Relationship Id="rId4" Type="http://schemas.openxmlformats.org/officeDocument/2006/relationships/image" Target="../media/image12.png"/><Relationship Id="rId5" Type="http://schemas.openxmlformats.org/officeDocument/2006/relationships/image" Target="../media/image1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8.png"/><Relationship Id="rId4" Type="http://schemas.openxmlformats.org/officeDocument/2006/relationships/image" Target="../media/image14.png"/><Relationship Id="rId5" Type="http://schemas.openxmlformats.org/officeDocument/2006/relationships/image" Target="../media/image20.png"/><Relationship Id="rId6" Type="http://schemas.openxmlformats.org/officeDocument/2006/relationships/image" Target="../media/image13.png"/><Relationship Id="rId7" Type="http://schemas.openxmlformats.org/officeDocument/2006/relationships/image" Target="../media/image22.png"/><Relationship Id="rId8" Type="http://schemas.openxmlformats.org/officeDocument/2006/relationships/image" Target="../media/image2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8.png"/><Relationship Id="rId4" Type="http://schemas.openxmlformats.org/officeDocument/2006/relationships/image" Target="../media/image17.png"/><Relationship Id="rId5" Type="http://schemas.openxmlformats.org/officeDocument/2006/relationships/image" Target="../media/image2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8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7.png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801525" y="631675"/>
            <a:ext cx="5017500" cy="99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" sz="4400"/>
              <a:t>DigitPet</a:t>
            </a:r>
            <a:endParaRPr b="1" sz="4400"/>
          </a:p>
        </p:txBody>
      </p:sp>
      <p:pic>
        <p:nvPicPr>
          <p:cNvPr id="135" name="Google Shape;135;p13" title="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7625" y="2139250"/>
            <a:ext cx="4506374" cy="3004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3"/>
          <p:cNvSpPr txBox="1"/>
          <p:nvPr/>
        </p:nvSpPr>
        <p:spPr>
          <a:xfrm>
            <a:off x="178925" y="3880725"/>
            <a:ext cx="3295500" cy="9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Készítették: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</a:pPr>
            <a:r>
              <a:rPr lang="hu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Vincze Gergő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</a:pPr>
            <a:r>
              <a:rPr lang="hu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Horváth Noel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</a:pPr>
            <a:r>
              <a:rPr lang="hu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Malomi-Kovács Bence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37" name="Google Shape;137;p13" title="DP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148175" y="-400075"/>
            <a:ext cx="3949700" cy="394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3"/>
          <p:cNvSpPr txBox="1"/>
          <p:nvPr/>
        </p:nvSpPr>
        <p:spPr>
          <a:xfrm>
            <a:off x="3117825" y="4677050"/>
            <a:ext cx="1519800" cy="3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http://digitpet.hu/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"/>
              <a:t>A bilétáról</a:t>
            </a:r>
            <a:endParaRPr b="1"/>
          </a:p>
        </p:txBody>
      </p:sp>
      <p:sp>
        <p:nvSpPr>
          <p:cNvPr id="144" name="Google Shape;144;p14"/>
          <p:cNvSpPr txBox="1"/>
          <p:nvPr>
            <p:ph idx="1" type="body"/>
          </p:nvPr>
        </p:nvSpPr>
        <p:spPr>
          <a:xfrm>
            <a:off x="0" y="1836300"/>
            <a:ext cx="4910400" cy="330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hu" sz="2000"/>
              <a:t>3D nyomtatott</a:t>
            </a:r>
            <a:endParaRPr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hu" sz="2000"/>
              <a:t>NFC-chippel ellátott</a:t>
            </a:r>
            <a:endParaRPr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hu" sz="2000"/>
              <a:t>A telefon </a:t>
            </a:r>
            <a:r>
              <a:rPr lang="hu" sz="2000"/>
              <a:t>hozzá érintésével</a:t>
            </a:r>
            <a:r>
              <a:rPr lang="hu" sz="2000"/>
              <a:t> olvasható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hu" sz="2000"/>
              <a:t>Egyedileg tervezett</a:t>
            </a:r>
            <a:endParaRPr sz="2000"/>
          </a:p>
        </p:txBody>
      </p:sp>
      <p:pic>
        <p:nvPicPr>
          <p:cNvPr id="145" name="Google Shape;145;p14" title="214fc28a-2bea-4850-a7db-2f7b1108ac1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05600" y="2251225"/>
            <a:ext cx="4338401" cy="2892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4" title="DP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224325" y="0"/>
            <a:ext cx="1816100" cy="1816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"/>
              <a:t>A webshop használata</a:t>
            </a:r>
            <a:endParaRPr b="1"/>
          </a:p>
        </p:txBody>
      </p:sp>
      <p:sp>
        <p:nvSpPr>
          <p:cNvPr id="152" name="Google Shape;152;p15"/>
          <p:cNvSpPr txBox="1"/>
          <p:nvPr>
            <p:ph idx="1" type="body"/>
          </p:nvPr>
        </p:nvSpPr>
        <p:spPr>
          <a:xfrm>
            <a:off x="117125" y="2245075"/>
            <a:ext cx="5024400" cy="278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lang="hu" sz="1700"/>
              <a:t>Regisztráció</a:t>
            </a:r>
            <a:endParaRPr sz="1700"/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lang="hu" sz="1700"/>
              <a:t>Állat regisztrálása </a:t>
            </a:r>
            <a:endParaRPr sz="1700"/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lang="hu" sz="1700"/>
              <a:t>Egyedi </a:t>
            </a:r>
            <a:r>
              <a:rPr lang="hu" sz="1700"/>
              <a:t>biléta</a:t>
            </a:r>
            <a:r>
              <a:rPr lang="hu" sz="1700"/>
              <a:t> megtervezése a kiválasztott háziállatra vagy választás a basic termékekből </a:t>
            </a:r>
            <a:endParaRPr sz="1700"/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lang="hu" sz="1700"/>
              <a:t>Kosárba helyezés </a:t>
            </a:r>
            <a:endParaRPr sz="1700"/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lang="hu" sz="1700"/>
              <a:t>Rendelés leadása</a:t>
            </a:r>
            <a:endParaRPr sz="1700"/>
          </a:p>
        </p:txBody>
      </p:sp>
      <p:pic>
        <p:nvPicPr>
          <p:cNvPr id="153" name="Google Shape;15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825035">
            <a:off x="4878600" y="810675"/>
            <a:ext cx="3697675" cy="29785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5" title="fali_gyik_zsoldos_marton_c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77275" y="1307850"/>
            <a:ext cx="464250" cy="316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5" title="DP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-224325" y="0"/>
            <a:ext cx="1816100" cy="1816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"/>
              <a:t>Adatbázis</a:t>
            </a:r>
            <a:endParaRPr b="1"/>
          </a:p>
        </p:txBody>
      </p:sp>
      <p:sp>
        <p:nvSpPr>
          <p:cNvPr id="161" name="Google Shape;161;p16"/>
          <p:cNvSpPr txBox="1"/>
          <p:nvPr>
            <p:ph idx="1" type="body"/>
          </p:nvPr>
        </p:nvSpPr>
        <p:spPr>
          <a:xfrm>
            <a:off x="-412750" y="3445675"/>
            <a:ext cx="4455600" cy="356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 sz="1700"/>
              <a:t>A képeken az 5 táblás adatbázisunk kapcsolati rajza és annak szerveroldali kapcsolata látható </a:t>
            </a:r>
            <a:endParaRPr sz="1700"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62" name="Google Shape;16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84933" y="3026750"/>
            <a:ext cx="5259075" cy="2085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95525" y="-43300"/>
            <a:ext cx="5259074" cy="3058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73017" y="3216292"/>
            <a:ext cx="1330598" cy="123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58517" y="3385317"/>
            <a:ext cx="1330598" cy="1287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07642" y="3554342"/>
            <a:ext cx="1330598" cy="123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02317" y="3723367"/>
            <a:ext cx="1330598" cy="123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6" title="DP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-224325" y="0"/>
            <a:ext cx="1816100" cy="1816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"/>
              <a:t>Regisztráció/Bejelentkezés</a:t>
            </a:r>
            <a:endParaRPr b="1"/>
          </a:p>
        </p:txBody>
      </p:sp>
      <p:sp>
        <p:nvSpPr>
          <p:cNvPr id="174" name="Google Shape;174;p17"/>
          <p:cNvSpPr txBox="1"/>
          <p:nvPr>
            <p:ph idx="1" type="body"/>
          </p:nvPr>
        </p:nvSpPr>
        <p:spPr>
          <a:xfrm>
            <a:off x="0" y="2197975"/>
            <a:ext cx="5250900" cy="356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hu" sz="1700"/>
              <a:t>Modern, letisztult megjelenésű login panelt készítettünk.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hu" sz="1700"/>
              <a:t>Az adatok űrlapon keresztül kerülnek beküldésre, HTTP POST metódussal a backend felé.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hu" sz="1700"/>
              <a:t>A szerver az adatbázis segítségével ellenőrzi a felhasználói adatokat.</a:t>
            </a:r>
            <a:endParaRPr sz="1700"/>
          </a:p>
        </p:txBody>
      </p:sp>
      <p:pic>
        <p:nvPicPr>
          <p:cNvPr id="175" name="Google Shape;17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05917">
            <a:off x="6254850" y="294325"/>
            <a:ext cx="2529226" cy="262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57058">
            <a:off x="5409725" y="2754025"/>
            <a:ext cx="1892075" cy="212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17" title="DP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-224325" y="0"/>
            <a:ext cx="1816100" cy="1816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"/>
              <a:t>Profil oldal</a:t>
            </a:r>
            <a:endParaRPr b="1"/>
          </a:p>
        </p:txBody>
      </p:sp>
      <p:sp>
        <p:nvSpPr>
          <p:cNvPr id="183" name="Google Shape;183;p18"/>
          <p:cNvSpPr txBox="1"/>
          <p:nvPr>
            <p:ph idx="1" type="body"/>
          </p:nvPr>
        </p:nvSpPr>
        <p:spPr>
          <a:xfrm>
            <a:off x="0" y="1993900"/>
            <a:ext cx="4572000" cy="314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36550" lvl="0" marL="457200" rtl="0" algn="l">
              <a:spcBef>
                <a:spcPts val="1200"/>
              </a:spcBef>
              <a:spcAft>
                <a:spcPts val="0"/>
              </a:spcAft>
              <a:buSzPts val="1700"/>
              <a:buChar char="●"/>
            </a:pPr>
            <a:r>
              <a:rPr lang="hu" sz="1700"/>
              <a:t>Felhasználói adatok biztonságos módosítása</a:t>
            </a:r>
            <a:br>
              <a:rPr lang="hu" sz="1700"/>
            </a:br>
            <a:r>
              <a:rPr lang="hu" sz="1700"/>
              <a:t> (felhasználónév, jelszó)</a:t>
            </a:r>
            <a:br>
              <a:rPr lang="hu" sz="1700"/>
            </a:br>
            <a:r>
              <a:rPr lang="hu" sz="1700"/>
              <a:t> Adatok űrlapon keresztüli frissítése a backend felé</a:t>
            </a:r>
            <a:br>
              <a:rPr lang="hu" sz="1700"/>
            </a:b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hu" sz="1700"/>
              <a:t>Rendelések nyomon követése</a:t>
            </a:r>
            <a:br>
              <a:rPr lang="hu" sz="1700"/>
            </a:br>
            <a:r>
              <a:rPr lang="hu" sz="1700"/>
              <a:t> (időpont és kiválasztott állat megjelenítése)</a:t>
            </a:r>
            <a:endParaRPr sz="1700"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700"/>
          </a:p>
        </p:txBody>
      </p:sp>
      <p:pic>
        <p:nvPicPr>
          <p:cNvPr id="184" name="Google Shape;18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43025" y="0"/>
            <a:ext cx="4500974" cy="28511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43025" y="2851125"/>
            <a:ext cx="4500976" cy="1874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8" title="DP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-224325" y="0"/>
            <a:ext cx="1816100" cy="181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40763" y="4831292"/>
            <a:ext cx="8429625" cy="2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9"/>
          <p:cNvSpPr txBox="1"/>
          <p:nvPr>
            <p:ph type="title"/>
          </p:nvPr>
        </p:nvSpPr>
        <p:spPr>
          <a:xfrm>
            <a:off x="1591775" y="393750"/>
            <a:ext cx="67446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"/>
              <a:t>Saját állatok adatai</a:t>
            </a:r>
            <a:endParaRPr b="1"/>
          </a:p>
        </p:txBody>
      </p:sp>
      <p:sp>
        <p:nvSpPr>
          <p:cNvPr id="193" name="Google Shape;193;p19"/>
          <p:cNvSpPr txBox="1"/>
          <p:nvPr>
            <p:ph idx="1" type="body"/>
          </p:nvPr>
        </p:nvSpPr>
        <p:spPr>
          <a:xfrm>
            <a:off x="0" y="1666300"/>
            <a:ext cx="4006800" cy="320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36550" lvl="0" marL="457200" rtl="0" algn="l">
              <a:spcBef>
                <a:spcPts val="1200"/>
              </a:spcBef>
              <a:spcAft>
                <a:spcPts val="0"/>
              </a:spcAft>
              <a:buSzPts val="1700"/>
              <a:buChar char="●"/>
            </a:pPr>
            <a:r>
              <a:rPr lang="hu" sz="1700"/>
              <a:t>Új állat regisztrálása űrlapon keresztül</a:t>
            </a:r>
            <a:br>
              <a:rPr lang="hu" sz="1700"/>
            </a:b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hu" sz="1700"/>
              <a:t> Adatok beküldése a backend felé és tárolása adatbázisban</a:t>
            </a:r>
            <a:br>
              <a:rPr lang="hu" sz="1700"/>
            </a:b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hu" sz="1700"/>
              <a:t>Regisztrált állatok megjelenítése táblázatos formában</a:t>
            </a:r>
            <a:br>
              <a:rPr lang="hu" sz="1700"/>
            </a:br>
            <a:br>
              <a:rPr lang="hu" sz="1700"/>
            </a:br>
            <a:r>
              <a:rPr lang="hu" sz="1700"/>
              <a:t> Alapadatok kezelése és törlési lehetőség</a:t>
            </a:r>
            <a:endParaRPr/>
          </a:p>
        </p:txBody>
      </p:sp>
      <p:pic>
        <p:nvPicPr>
          <p:cNvPr id="194" name="Google Shape;194;p19" title="DP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224325" y="0"/>
            <a:ext cx="1816100" cy="181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69000" y="1043525"/>
            <a:ext cx="5074999" cy="4099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90950" y="3176325"/>
            <a:ext cx="5353051" cy="1699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"/>
              <a:t>Termékek</a:t>
            </a:r>
            <a:endParaRPr b="1"/>
          </a:p>
        </p:txBody>
      </p:sp>
      <p:sp>
        <p:nvSpPr>
          <p:cNvPr id="202" name="Google Shape;202;p20"/>
          <p:cNvSpPr txBox="1"/>
          <p:nvPr>
            <p:ph idx="1" type="body"/>
          </p:nvPr>
        </p:nvSpPr>
        <p:spPr>
          <a:xfrm>
            <a:off x="451625" y="1567550"/>
            <a:ext cx="29220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hu"/>
              <a:t>Basic termékekből kétféle van</a:t>
            </a:r>
            <a:br>
              <a:rPr lang="hu"/>
            </a:b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hu"/>
              <a:t>Ki kell választani az egyik állatot hogy melyik állat adatai legyenek ráírva a chip-re</a:t>
            </a:r>
            <a:endParaRPr/>
          </a:p>
        </p:txBody>
      </p:sp>
      <p:pic>
        <p:nvPicPr>
          <p:cNvPr id="203" name="Google Shape;203;p20" title="DP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224325" y="0"/>
            <a:ext cx="1816100" cy="181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78425" y="2146775"/>
            <a:ext cx="5465574" cy="2996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78425" y="0"/>
            <a:ext cx="5465575" cy="2157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1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"/>
              <a:t>Biléta tervező</a:t>
            </a:r>
            <a:endParaRPr b="1"/>
          </a:p>
        </p:txBody>
      </p:sp>
      <p:sp>
        <p:nvSpPr>
          <p:cNvPr id="211" name="Google Shape;211;p21"/>
          <p:cNvSpPr txBox="1"/>
          <p:nvPr>
            <p:ph idx="1" type="body"/>
          </p:nvPr>
        </p:nvSpPr>
        <p:spPr>
          <a:xfrm>
            <a:off x="162675" y="1449075"/>
            <a:ext cx="3745800" cy="354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hu"/>
              <a:t>Egyedi biléta létrehozása</a:t>
            </a:r>
            <a:br>
              <a:rPr lang="hu"/>
            </a:b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hu"/>
              <a:t>Ki kell választani az egyik állatot hogy melyik állat adatai legyenek ráírva a chip-re</a:t>
            </a:r>
            <a:br>
              <a:rPr lang="hu"/>
            </a:b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hu"/>
              <a:t>3 féle forma közül lehet választani</a:t>
            </a:r>
            <a:br>
              <a:rPr lang="hu"/>
            </a:b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hu"/>
              <a:t>Színe egyedi</a:t>
            </a:r>
            <a:br>
              <a:rPr lang="hu"/>
            </a:b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hu"/>
              <a:t>A szövegenek és az alapnak külön lehet színt állítani</a:t>
            </a:r>
            <a:br>
              <a:rPr lang="hu"/>
            </a:b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hu"/>
              <a:t>Felirat egyedileg adható</a:t>
            </a:r>
            <a:endParaRPr/>
          </a:p>
        </p:txBody>
      </p:sp>
      <p:pic>
        <p:nvPicPr>
          <p:cNvPr id="212" name="Google Shape;212;p21" title="DP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224325" y="0"/>
            <a:ext cx="1816100" cy="181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74773" y="0"/>
            <a:ext cx="3469225" cy="4261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82124" y="-15772"/>
            <a:ext cx="1669650" cy="1669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982125" y="1643301"/>
            <a:ext cx="1669650" cy="181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982125" y="3401475"/>
            <a:ext cx="1669650" cy="1750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814097" y="0"/>
            <a:ext cx="4393406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2"/>
          <p:cNvSpPr txBox="1"/>
          <p:nvPr>
            <p:ph type="title"/>
          </p:nvPr>
        </p:nvSpPr>
        <p:spPr>
          <a:xfrm>
            <a:off x="1436625" y="45100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"/>
              <a:t>Kosár</a:t>
            </a:r>
            <a:endParaRPr b="1"/>
          </a:p>
        </p:txBody>
      </p:sp>
      <p:sp>
        <p:nvSpPr>
          <p:cNvPr id="223" name="Google Shape;223;p22"/>
          <p:cNvSpPr txBox="1"/>
          <p:nvPr>
            <p:ph idx="1" type="body"/>
          </p:nvPr>
        </p:nvSpPr>
        <p:spPr>
          <a:xfrm>
            <a:off x="473425" y="1631750"/>
            <a:ext cx="2325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hu"/>
              <a:t>A kiválasztott NFC biléták összesítése és kezelése.</a:t>
            </a:r>
            <a:br>
              <a:rPr lang="hu"/>
            </a:b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hu"/>
              <a:t>A rendelés véglegesítése előtt itt látható minden kiválasztott elem.</a:t>
            </a:r>
            <a:br>
              <a:rPr lang="hu"/>
            </a:b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hu"/>
              <a:t>Emellett itt lehet megadni a </a:t>
            </a:r>
            <a:r>
              <a:rPr lang="hu"/>
              <a:t>szállítási</a:t>
            </a:r>
            <a:r>
              <a:rPr lang="hu"/>
              <a:t> adatokat is (check out)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24" name="Google Shape;224;p22" title="DP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224325" y="0"/>
            <a:ext cx="1816100" cy="181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99350" y="528700"/>
            <a:ext cx="6344650" cy="3946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47513" y="0"/>
            <a:ext cx="4696498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3"/>
          <p:cNvSpPr txBox="1"/>
          <p:nvPr>
            <p:ph type="title"/>
          </p:nvPr>
        </p:nvSpPr>
        <p:spPr>
          <a:xfrm>
            <a:off x="1297500" y="393750"/>
            <a:ext cx="15300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"/>
              <a:t>Admin</a:t>
            </a:r>
            <a:endParaRPr b="1"/>
          </a:p>
        </p:txBody>
      </p:sp>
      <p:sp>
        <p:nvSpPr>
          <p:cNvPr id="232" name="Google Shape;232;p23"/>
          <p:cNvSpPr txBox="1"/>
          <p:nvPr>
            <p:ph idx="1" type="body"/>
          </p:nvPr>
        </p:nvSpPr>
        <p:spPr>
          <a:xfrm>
            <a:off x="3007775" y="465675"/>
            <a:ext cx="6136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hu" sz="1700"/>
              <a:t>A képen az admin panel látható ahol a leadott termékek listája jelenik meg </a:t>
            </a:r>
            <a:r>
              <a:rPr lang="hu" sz="1700"/>
              <a:t>időrendi sorrendben</a:t>
            </a:r>
            <a:r>
              <a:rPr lang="hu" sz="1700"/>
              <a:t> és a fizikai a chip és a szállítási adatok tartalmával.</a:t>
            </a:r>
            <a:endParaRPr sz="1700"/>
          </a:p>
        </p:txBody>
      </p:sp>
      <p:pic>
        <p:nvPicPr>
          <p:cNvPr id="233" name="Google Shape;233;p23" title="DP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224325" y="0"/>
            <a:ext cx="1816100" cy="181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650" y="1643725"/>
            <a:ext cx="9032702" cy="3457196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3"/>
          <p:cNvSpPr txBox="1"/>
          <p:nvPr/>
        </p:nvSpPr>
        <p:spPr>
          <a:xfrm>
            <a:off x="954625" y="3920075"/>
            <a:ext cx="53964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36" name="Google Shape;236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19174" y="1442725"/>
            <a:ext cx="4409300" cy="365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1" name="Google Shape;241;p24" title="login_hatte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229400" y="-674250"/>
            <a:ext cx="9446173" cy="6297475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24"/>
          <p:cNvSpPr txBox="1"/>
          <p:nvPr>
            <p:ph type="title"/>
          </p:nvPr>
        </p:nvSpPr>
        <p:spPr>
          <a:xfrm>
            <a:off x="1052550" y="2114700"/>
            <a:ext cx="7038900" cy="914100"/>
          </a:xfrm>
          <a:prstGeom prst="rect">
            <a:avLst/>
          </a:prstGeom>
          <a:effectLst>
            <a:outerShdw blurRad="57150" rotWithShape="0" algn="bl" dir="7200000" dist="95250">
              <a:srgbClr val="FFFF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hu" sz="4500">
                <a:solidFill>
                  <a:srgbClr val="000000"/>
                </a:solidFill>
                <a:latin typeface="Permanent Marker"/>
                <a:ea typeface="Permanent Marker"/>
                <a:cs typeface="Permanent Marker"/>
                <a:sym typeface="Permanent Marker"/>
              </a:rPr>
              <a:t>Köszönjük a figyelmet!</a:t>
            </a:r>
            <a:endParaRPr sz="4500">
              <a:solidFill>
                <a:srgbClr val="000000"/>
              </a:solidFill>
              <a:latin typeface="Permanent Marker"/>
              <a:ea typeface="Permanent Marker"/>
              <a:cs typeface="Permanent Marker"/>
              <a:sym typeface="Permanent Marker"/>
            </a:endParaRPr>
          </a:p>
        </p:txBody>
      </p:sp>
      <p:sp>
        <p:nvSpPr>
          <p:cNvPr id="243" name="Google Shape;243;p24"/>
          <p:cNvSpPr txBox="1"/>
          <p:nvPr>
            <p:ph idx="1" type="body"/>
          </p:nvPr>
        </p:nvSpPr>
        <p:spPr>
          <a:xfrm>
            <a:off x="-408525" y="4318025"/>
            <a:ext cx="4251600" cy="1136100"/>
          </a:xfrm>
          <a:prstGeom prst="rect">
            <a:avLst/>
          </a:prstGeom>
          <a:effectLst>
            <a:outerShdw blurRad="57150" rotWithShape="0" algn="bl" dir="7200000" dist="95250">
              <a:srgbClr val="000000"/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200"/>
              </a:spcAft>
              <a:buNone/>
            </a:pPr>
            <a:r>
              <a:rPr i="1" lang="hu" sz="2100">
                <a:solidFill>
                  <a:srgbClr val="FFFF00"/>
                </a:solidFill>
              </a:rPr>
              <a:t>BGéSZC Szily Kálmán Technikum</a:t>
            </a:r>
            <a:endParaRPr i="1" sz="2100">
              <a:solidFill>
                <a:srgbClr val="FFFF00"/>
              </a:solidFill>
            </a:endParaRPr>
          </a:p>
        </p:txBody>
      </p:sp>
      <p:sp>
        <p:nvSpPr>
          <p:cNvPr id="244" name="Google Shape;244;p24"/>
          <p:cNvSpPr txBox="1"/>
          <p:nvPr/>
        </p:nvSpPr>
        <p:spPr>
          <a:xfrm>
            <a:off x="3573200" y="3028800"/>
            <a:ext cx="2111700" cy="736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7200000" dist="95250">
              <a:srgbClr val="FFFF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 sz="3000">
                <a:latin typeface="Impact"/>
                <a:ea typeface="Impact"/>
                <a:cs typeface="Impact"/>
                <a:sym typeface="Impact"/>
              </a:rPr>
              <a:t>digitpet.hu</a:t>
            </a:r>
            <a:endParaRPr sz="3000"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id="245" name="Google Shape;245;p24" title="DP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09600" y="-413125"/>
            <a:ext cx="3175000" cy="3175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7200000" dist="142875">
              <a:srgbClr val="FFFF00">
                <a:alpha val="50000"/>
              </a:srgbClr>
            </a:outerShdw>
          </a:effectLst>
        </p:spPr>
      </p:pic>
      <p:sp>
        <p:nvSpPr>
          <p:cNvPr id="246" name="Google Shape;246;p24"/>
          <p:cNvSpPr txBox="1"/>
          <p:nvPr/>
        </p:nvSpPr>
        <p:spPr>
          <a:xfrm>
            <a:off x="6698050" y="4038150"/>
            <a:ext cx="22905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Készítették: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</a:pPr>
            <a:r>
              <a:rPr lang="hu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Vincze Gergő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</a:pPr>
            <a:r>
              <a:rPr lang="hu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Horváth Noel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</a:pPr>
            <a:r>
              <a:rPr lang="hu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Malomi-Kovács Bence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